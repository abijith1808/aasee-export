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71" r:id="rId3"/>
    <p:sldId id="257" r:id="rId4"/>
    <p:sldId id="266" r:id="rId5"/>
    <p:sldId id="258" r:id="rId6"/>
    <p:sldId id="259" r:id="rId7"/>
    <p:sldId id="260" r:id="rId8"/>
    <p:sldId id="261" r:id="rId9"/>
    <p:sldId id="262" r:id="rId10"/>
    <p:sldId id="263" r:id="rId11"/>
    <p:sldId id="264" r:id="rId12"/>
    <p:sldId id="269" r:id="rId13"/>
    <p:sldId id="270" r:id="rId14"/>
    <p:sldId id="265"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25" autoAdjust="0"/>
    <p:restoredTop sz="94660"/>
  </p:normalViewPr>
  <p:slideViewPr>
    <p:cSldViewPr snapToGrid="0">
      <p:cViewPr varScale="1">
        <p:scale>
          <a:sx n="68" d="100"/>
          <a:sy n="68" d="100"/>
        </p:scale>
        <p:origin x="57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EBB23D-6581-409D-B45B-C545A2954926}" type="datetimeFigureOut">
              <a:rPr lang="en-IN" smtClean="0"/>
              <a:t>22-05-2026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05424C-0BAA-4F43-9636-BF60494FDA94}" type="slidenum">
              <a:rPr lang="en-IN" smtClean="0"/>
              <a:t>‹#›</a:t>
            </a:fld>
            <a:endParaRPr lang="en-IN"/>
          </a:p>
        </p:txBody>
      </p:sp>
    </p:spTree>
    <p:extLst>
      <p:ext uri="{BB962C8B-B14F-4D97-AF65-F5344CB8AC3E}">
        <p14:creationId xmlns:p14="http://schemas.microsoft.com/office/powerpoint/2010/main" val="843204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N"/>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N"/>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D00823-6671-48A1-BB66-C46CC1E9C99B}"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843E31A9-BD7C-4110-AE00-DCAB80261B1C}" type="slidenum">
              <a:rPr lang="en-IN" smtClean="0"/>
              <a:t>‹#›</a:t>
            </a:fld>
            <a:endParaRPr lang="en-IN"/>
          </a:p>
        </p:txBody>
      </p:sp>
    </p:spTree>
    <p:extLst>
      <p:ext uri="{BB962C8B-B14F-4D97-AF65-F5344CB8AC3E}">
        <p14:creationId xmlns:p14="http://schemas.microsoft.com/office/powerpoint/2010/main" val="3005010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D00823-6671-48A1-BB66-C46CC1E9C99B}"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3E31A9-BD7C-4110-AE00-DCAB80261B1C}" type="slidenum">
              <a:rPr lang="en-IN" smtClean="0"/>
              <a:t>‹#›</a:t>
            </a:fld>
            <a:endParaRPr lang="en-IN"/>
          </a:p>
        </p:txBody>
      </p:sp>
    </p:spTree>
    <p:extLst>
      <p:ext uri="{BB962C8B-B14F-4D97-AF65-F5344CB8AC3E}">
        <p14:creationId xmlns:p14="http://schemas.microsoft.com/office/powerpoint/2010/main" val="3043376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AD00823-6671-48A1-BB66-C46CC1E9C99B}" type="datetimeFigureOut">
              <a:rPr lang="en-IN" smtClean="0"/>
              <a:t>22-05-2026</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843E31A9-BD7C-4110-AE00-DCAB80261B1C}" type="slidenum">
              <a:rPr lang="en-IN" smtClean="0"/>
              <a:t>‹#›</a:t>
            </a:fld>
            <a:endParaRPr lang="en-IN"/>
          </a:p>
        </p:txBody>
      </p:sp>
    </p:spTree>
    <p:extLst>
      <p:ext uri="{BB962C8B-B14F-4D97-AF65-F5344CB8AC3E}">
        <p14:creationId xmlns:p14="http://schemas.microsoft.com/office/powerpoint/2010/main" val="1527451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D00823-6671-48A1-BB66-C46CC1E9C99B}" type="datetimeFigureOut">
              <a:rPr lang="en-IN" smtClean="0"/>
              <a:t>22-05-2026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3E31A9-BD7C-4110-AE00-DCAB80261B1C}" type="slidenum">
              <a:rPr lang="en-IN" smtClean="0"/>
              <a:t>‹#›</a:t>
            </a:fld>
            <a:endParaRPr lang="en-IN"/>
          </a:p>
        </p:txBody>
      </p:sp>
    </p:spTree>
    <p:extLst>
      <p:ext uri="{BB962C8B-B14F-4D97-AF65-F5344CB8AC3E}">
        <p14:creationId xmlns:p14="http://schemas.microsoft.com/office/powerpoint/2010/main" val="2146855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D00823-6671-48A1-BB66-C46CC1E9C99B}" type="datetimeFigureOut">
              <a:rPr lang="en-IN" smtClean="0"/>
              <a:t>22-05-2026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43E31A9-BD7C-4110-AE00-DCAB80261B1C}" type="slidenum">
              <a:rPr lang="en-IN" smtClean="0"/>
              <a:t>‹#›</a:t>
            </a:fld>
            <a:endParaRPr lang="en-IN"/>
          </a:p>
        </p:txBody>
      </p:sp>
    </p:spTree>
    <p:extLst>
      <p:ext uri="{BB962C8B-B14F-4D97-AF65-F5344CB8AC3E}">
        <p14:creationId xmlns:p14="http://schemas.microsoft.com/office/powerpoint/2010/main" val="405773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D00823-6671-48A1-BB66-C46CC1E9C99B}" type="datetimeFigureOut">
              <a:rPr lang="en-IN" smtClean="0"/>
              <a:t>22-05-2026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43E31A9-BD7C-4110-AE00-DCAB80261B1C}" type="slidenum">
              <a:rPr lang="en-IN" smtClean="0"/>
              <a:t>‹#›</a:t>
            </a:fld>
            <a:endParaRPr lang="en-IN"/>
          </a:p>
        </p:txBody>
      </p:sp>
    </p:spTree>
    <p:extLst>
      <p:ext uri="{BB962C8B-B14F-4D97-AF65-F5344CB8AC3E}">
        <p14:creationId xmlns:p14="http://schemas.microsoft.com/office/powerpoint/2010/main" val="3489967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D00823-6671-48A1-BB66-C46CC1E9C99B}" type="datetimeFigureOut">
              <a:rPr lang="en-IN" smtClean="0"/>
              <a:t>22-05-2026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43E31A9-BD7C-4110-AE00-DCAB80261B1C}" type="slidenum">
              <a:rPr lang="en-IN" smtClean="0"/>
              <a:t>‹#›</a:t>
            </a:fld>
            <a:endParaRPr lang="en-IN"/>
          </a:p>
        </p:txBody>
      </p:sp>
    </p:spTree>
    <p:extLst>
      <p:ext uri="{BB962C8B-B14F-4D97-AF65-F5344CB8AC3E}">
        <p14:creationId xmlns:p14="http://schemas.microsoft.com/office/powerpoint/2010/main" val="353478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D00823-6671-48A1-BB66-C46CC1E9C99B}" type="datetimeFigureOut">
              <a:rPr lang="en-IN" smtClean="0"/>
              <a:t>22-05-2026</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843E31A9-BD7C-4110-AE00-DCAB80261B1C}" type="slidenum">
              <a:rPr lang="en-IN" smtClean="0"/>
              <a:t>‹#›</a:t>
            </a:fld>
            <a:endParaRPr lang="en-IN"/>
          </a:p>
        </p:txBody>
      </p:sp>
    </p:spTree>
    <p:extLst>
      <p:ext uri="{BB962C8B-B14F-4D97-AF65-F5344CB8AC3E}">
        <p14:creationId xmlns:p14="http://schemas.microsoft.com/office/powerpoint/2010/main" val="2739740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D00823-6671-48A1-BB66-C46CC1E9C99B}" type="datetimeFigureOut">
              <a:rPr lang="en-IN" smtClean="0"/>
              <a:t>22-05-2026</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843E31A9-BD7C-4110-AE00-DCAB80261B1C}" type="slidenum">
              <a:rPr lang="en-IN" smtClean="0"/>
              <a:t>‹#›</a:t>
            </a:fld>
            <a:endParaRPr lang="en-IN"/>
          </a:p>
        </p:txBody>
      </p:sp>
    </p:spTree>
    <p:extLst>
      <p:ext uri="{BB962C8B-B14F-4D97-AF65-F5344CB8AC3E}">
        <p14:creationId xmlns:p14="http://schemas.microsoft.com/office/powerpoint/2010/main" val="3570206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D00823-6671-48A1-BB66-C46CC1E9C99B}"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3E31A9-BD7C-4110-AE00-DCAB80261B1C}" type="slidenum">
              <a:rPr lang="en-IN" smtClean="0"/>
              <a:t>‹#›</a:t>
            </a:fld>
            <a:endParaRPr lang="en-IN"/>
          </a:p>
        </p:txBody>
      </p:sp>
    </p:spTree>
    <p:extLst>
      <p:ext uri="{BB962C8B-B14F-4D97-AF65-F5344CB8AC3E}">
        <p14:creationId xmlns:p14="http://schemas.microsoft.com/office/powerpoint/2010/main" val="1555897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D00823-6671-48A1-BB66-C46CC1E9C99B}"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3E31A9-BD7C-4110-AE00-DCAB80261B1C}" type="slidenum">
              <a:rPr lang="en-IN" smtClean="0"/>
              <a:t>‹#›</a:t>
            </a:fld>
            <a:endParaRPr lang="en-IN"/>
          </a:p>
        </p:txBody>
      </p:sp>
    </p:spTree>
    <p:extLst>
      <p:ext uri="{BB962C8B-B14F-4D97-AF65-F5344CB8AC3E}">
        <p14:creationId xmlns:p14="http://schemas.microsoft.com/office/powerpoint/2010/main" val="465247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AD00823-6671-48A1-BB66-C46CC1E9C99B}" type="datetimeFigureOut">
              <a:rPr lang="en-IN" smtClean="0"/>
              <a:t>22-05-2026</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843E31A9-BD7C-4110-AE00-DCAB80261B1C}" type="slidenum">
              <a:rPr lang="en-IN" smtClean="0"/>
              <a:t>‹#›</a:t>
            </a:fld>
            <a:endParaRPr lang="en-IN"/>
          </a:p>
        </p:txBody>
      </p:sp>
    </p:spTree>
    <p:extLst>
      <p:ext uri="{BB962C8B-B14F-4D97-AF65-F5344CB8AC3E}">
        <p14:creationId xmlns:p14="http://schemas.microsoft.com/office/powerpoint/2010/main" val="19426132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mailto:info@aaseeexport.com" TargetMode="External"/><Relationship Id="rId3" Type="http://schemas.microsoft.com/office/2007/relationships/hdphoto" Target="../media/hdphoto1.wdp"/><Relationship Id="rId7" Type="http://schemas.openxmlformats.org/officeDocument/2006/relationships/hyperlink" Target="https://pukraexports.com/"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hyperlink" Target="mailto:info@aaseeexport.com" TargetMode="External"/><Relationship Id="rId3" Type="http://schemas.microsoft.com/office/2007/relationships/hdphoto" Target="../media/hdphoto1.wdp"/><Relationship Id="rId7" Type="http://schemas.openxmlformats.org/officeDocument/2006/relationships/hyperlink" Target="https://pukraexports.com/"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hyperlink" Target="https://www.alokind.com/vision-mission-value.html"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hyperlink" Target="https://rcm-organic.co/our-capabilities/#our-verticals"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hyperlink" Target="https://www.alokind.com/strength-capabilities.html"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07D73-1691-3108-D0E3-B4876E7DD717}"/>
              </a:ext>
            </a:extLst>
          </p:cNvPr>
          <p:cNvSpPr>
            <a:spLocks noGrp="1"/>
          </p:cNvSpPr>
          <p:nvPr>
            <p:ph type="ctrTitle"/>
          </p:nvPr>
        </p:nvSpPr>
        <p:spPr/>
        <p:txBody>
          <a:bodyPr/>
          <a:lstStyle/>
          <a:p>
            <a:r>
              <a:rPr lang="en-US" dirty="0"/>
              <a:t>Aasee Website Content </a:t>
            </a:r>
            <a:endParaRPr lang="en-IN" dirty="0"/>
          </a:p>
        </p:txBody>
      </p:sp>
    </p:spTree>
    <p:extLst>
      <p:ext uri="{BB962C8B-B14F-4D97-AF65-F5344CB8AC3E}">
        <p14:creationId xmlns:p14="http://schemas.microsoft.com/office/powerpoint/2010/main" val="4039148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19D1CE-6BC8-8200-72F8-B6B609CC23A6}"/>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33A1F048-7AD9-F8C7-283E-8AE7B1C9BB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448D4F48-C6EE-4FA5-1CCB-3EBA356BE3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5917FBA0-0410-440D-A0DA-496E29F53D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7793FF31-605C-8675-787B-60D71B2A4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FECD381-55F5-3FF8-C20D-611D91598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89F1B7C1-D4AF-23A2-1BF9-DC2801397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4A31D921-609D-A01C-66AD-01938CB66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E3072B3D-2524-DAC8-DDBB-C2774A64EADD}"/>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rPr>
              <a:t>Home Page </a:t>
            </a:r>
            <a:r>
              <a:rPr lang="en-US" sz="5400" b="1" cap="all"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latin typeface="+mj-lt"/>
                <a:ea typeface="+mj-ea"/>
                <a:cs typeface="+mj-cs"/>
              </a:rPr>
              <a:t>Content</a:t>
            </a:r>
            <a:endPar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endParaRPr>
          </a:p>
        </p:txBody>
      </p:sp>
      <p:sp>
        <p:nvSpPr>
          <p:cNvPr id="3" name="TextBox 2">
            <a:extLst>
              <a:ext uri="{FF2B5EF4-FFF2-40B4-BE49-F238E27FC236}">
                <a16:creationId xmlns:a16="http://schemas.microsoft.com/office/drawing/2014/main" id="{8E2D4F7F-9F6F-25CA-8066-27AEFDCEEF46}"/>
              </a:ext>
            </a:extLst>
          </p:cNvPr>
          <p:cNvSpPr txBox="1"/>
          <p:nvPr/>
        </p:nvSpPr>
        <p:spPr>
          <a:xfrm>
            <a:off x="730625" y="2980153"/>
            <a:ext cx="10803388" cy="2743199"/>
          </a:xfrm>
          <a:prstGeom prst="rect">
            <a:avLst/>
          </a:prstGeom>
        </p:spPr>
        <p:txBody>
          <a:bodyPr vert="horz" lIns="91440" tIns="45720" rIns="91440" bIns="45720" rtlCol="0">
            <a:normAutofit/>
          </a:bodyPr>
          <a:lstStyle/>
          <a:p>
            <a:pPr defTabSz="914400">
              <a:lnSpc>
                <a:spcPct val="150000"/>
              </a:lnSpc>
              <a:spcAft>
                <a:spcPts val="600"/>
              </a:spcAft>
              <a:buClr>
                <a:schemeClr val="accent1">
                  <a:lumMod val="75000"/>
                </a:schemeClr>
              </a:buClr>
              <a:buSzPct val="85000"/>
            </a:pPr>
            <a:r>
              <a:rPr lang="en-US" dirty="0">
                <a:latin typeface="FrankRuehl" panose="020E0503060101010101" pitchFamily="34" charset="-79"/>
                <a:cs typeface="FrankRuehl" panose="020E0503060101010101" pitchFamily="34" charset="-79"/>
              </a:rPr>
              <a:t>Home    Our Purpose     Infrastructure      Product Line   Accreditations    Contact Us      (Get in Touch Bubble)</a:t>
            </a:r>
          </a:p>
        </p:txBody>
      </p:sp>
      <p:sp>
        <p:nvSpPr>
          <p:cNvPr id="40" name="Oval 39">
            <a:extLst>
              <a:ext uri="{FF2B5EF4-FFF2-40B4-BE49-F238E27FC236}">
                <a16:creationId xmlns:a16="http://schemas.microsoft.com/office/drawing/2014/main" id="{5A47C01A-D289-F356-4670-AB65FE581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3FAC0F91-7592-275B-7789-3EB055FCB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35496F1-AA96-B29B-5FB0-0DE30A38DA87}"/>
              </a:ext>
            </a:extLst>
          </p:cNvPr>
          <p:cNvSpPr txBox="1"/>
          <p:nvPr/>
        </p:nvSpPr>
        <p:spPr>
          <a:xfrm>
            <a:off x="663388" y="2514023"/>
            <a:ext cx="3285565" cy="400110"/>
          </a:xfrm>
          <a:prstGeom prst="rect">
            <a:avLst/>
          </a:prstGeom>
          <a:noFill/>
        </p:spPr>
        <p:txBody>
          <a:bodyPr wrap="square" rtlCol="0">
            <a:spAutoFit/>
          </a:bodyPr>
          <a:lstStyle/>
          <a:p>
            <a:r>
              <a:rPr lang="en-US" sz="2000" b="1" dirty="0"/>
              <a:t>Header Content:</a:t>
            </a:r>
            <a:endParaRPr lang="en-IN" sz="2000" b="1" dirty="0"/>
          </a:p>
        </p:txBody>
      </p:sp>
      <p:sp>
        <p:nvSpPr>
          <p:cNvPr id="5" name="TextBox 4">
            <a:extLst>
              <a:ext uri="{FF2B5EF4-FFF2-40B4-BE49-F238E27FC236}">
                <a16:creationId xmlns:a16="http://schemas.microsoft.com/office/drawing/2014/main" id="{D982FE8C-EB95-1142-9D2F-12360C8CD22A}"/>
              </a:ext>
            </a:extLst>
          </p:cNvPr>
          <p:cNvSpPr txBox="1"/>
          <p:nvPr/>
        </p:nvSpPr>
        <p:spPr>
          <a:xfrm>
            <a:off x="3783105" y="6163661"/>
            <a:ext cx="7691719" cy="523220"/>
          </a:xfrm>
          <a:prstGeom prst="rect">
            <a:avLst/>
          </a:prstGeom>
          <a:noFill/>
        </p:spPr>
        <p:txBody>
          <a:bodyPr wrap="square">
            <a:spAutoFit/>
          </a:bodyPr>
          <a:lstStyle/>
          <a:p>
            <a:pPr marL="285750" indent="-285750">
              <a:buFont typeface="Arial" panose="020B0604020202020204" pitchFamily="34" charset="0"/>
              <a:buChar char="•"/>
            </a:pPr>
            <a:r>
              <a:rPr lang="en-IN" sz="1400" b="1" i="1" dirty="0"/>
              <a:t>Home Page Header - </a:t>
            </a:r>
            <a:r>
              <a:rPr lang="en-IN" sz="1400" b="1" i="1" dirty="0">
                <a:hlinkClick r:id="rId7"/>
              </a:rPr>
              <a:t>https://pukraexports.com/</a:t>
            </a:r>
            <a:r>
              <a:rPr lang="en-IN" sz="1400" b="1" i="1" dirty="0"/>
              <a:t> (Please add that Get in Touch/Talk to us option where it connects to the mail-id </a:t>
            </a:r>
            <a:r>
              <a:rPr lang="en-IN" sz="1400" b="1" i="1" dirty="0">
                <a:hlinkClick r:id="rId8"/>
              </a:rPr>
              <a:t>info@aaseeexport.com</a:t>
            </a:r>
            <a:r>
              <a:rPr lang="en-IN" sz="1400" b="1" i="1" dirty="0"/>
              <a:t>)</a:t>
            </a:r>
          </a:p>
        </p:txBody>
      </p:sp>
      <p:sp>
        <p:nvSpPr>
          <p:cNvPr id="2" name="TextBox 1">
            <a:extLst>
              <a:ext uri="{FF2B5EF4-FFF2-40B4-BE49-F238E27FC236}">
                <a16:creationId xmlns:a16="http://schemas.microsoft.com/office/drawing/2014/main" id="{F3E0702A-7079-B9CB-FCCD-D3F41DDD7480}"/>
              </a:ext>
            </a:extLst>
          </p:cNvPr>
          <p:cNvSpPr txBox="1"/>
          <p:nvPr/>
        </p:nvSpPr>
        <p:spPr>
          <a:xfrm>
            <a:off x="663388" y="3556937"/>
            <a:ext cx="3285565" cy="400110"/>
          </a:xfrm>
          <a:prstGeom prst="rect">
            <a:avLst/>
          </a:prstGeom>
          <a:noFill/>
        </p:spPr>
        <p:txBody>
          <a:bodyPr wrap="square" rtlCol="0">
            <a:spAutoFit/>
          </a:bodyPr>
          <a:lstStyle/>
          <a:p>
            <a:r>
              <a:rPr lang="en-US" sz="2000" b="1" dirty="0"/>
              <a:t>Home Page Content:</a:t>
            </a:r>
            <a:endParaRPr lang="en-IN" sz="2000" b="1" dirty="0"/>
          </a:p>
        </p:txBody>
      </p:sp>
      <p:sp>
        <p:nvSpPr>
          <p:cNvPr id="6" name="TextBox 5">
            <a:extLst>
              <a:ext uri="{FF2B5EF4-FFF2-40B4-BE49-F238E27FC236}">
                <a16:creationId xmlns:a16="http://schemas.microsoft.com/office/drawing/2014/main" id="{4A0E33DC-82B6-143A-E57D-C76B4CD3598D}"/>
              </a:ext>
            </a:extLst>
          </p:cNvPr>
          <p:cNvSpPr txBox="1"/>
          <p:nvPr/>
        </p:nvSpPr>
        <p:spPr>
          <a:xfrm>
            <a:off x="1087777" y="3957047"/>
            <a:ext cx="10803388" cy="2743199"/>
          </a:xfrm>
          <a:prstGeom prst="rect">
            <a:avLst/>
          </a:prstGeom>
        </p:spPr>
        <p:txBody>
          <a:bodyPr vert="horz" lIns="91440" tIns="45720" rIns="91440" bIns="45720" rtlCol="0">
            <a:normAutofit/>
          </a:bodyPr>
          <a:lstStyle/>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latin typeface="FrankRuehl" panose="020E0503060101010101" pitchFamily="34" charset="-79"/>
                <a:cs typeface="FrankRuehl" panose="020E0503060101010101" pitchFamily="34" charset="-79"/>
              </a:rPr>
              <a:t>About Us </a:t>
            </a:r>
          </a:p>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latin typeface="FrankRuehl" panose="020E0503060101010101" pitchFamily="34" charset="-79"/>
                <a:cs typeface="FrankRuehl" panose="020E0503060101010101" pitchFamily="34" charset="-79"/>
              </a:rPr>
              <a:t>Product Line (Product category images, and the product line title connects to Product Line Page)</a:t>
            </a:r>
          </a:p>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latin typeface="FrankRuehl" panose="020E0503060101010101" pitchFamily="34" charset="-79"/>
                <a:cs typeface="FrankRuehl" panose="020E0503060101010101" pitchFamily="34" charset="-79"/>
              </a:rPr>
              <a:t>Our Expertise </a:t>
            </a:r>
          </a:p>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latin typeface="FrankRuehl" panose="020E0503060101010101" pitchFamily="34" charset="-79"/>
                <a:cs typeface="FrankRuehl" panose="020E0503060101010101" pitchFamily="34" charset="-79"/>
              </a:rPr>
              <a:t>Contact Us </a:t>
            </a:r>
          </a:p>
        </p:txBody>
      </p:sp>
    </p:spTree>
    <p:extLst>
      <p:ext uri="{BB962C8B-B14F-4D97-AF65-F5344CB8AC3E}">
        <p14:creationId xmlns:p14="http://schemas.microsoft.com/office/powerpoint/2010/main" val="2420856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132FD491-28F3-42E7-AEBF-A9E3C462C9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AD016B6E-F283-4CFB-9099-05C8DA6AB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72D0360E-345F-4790-B0A0-03ADC36B5E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6695A16D-78E9-A9B9-1FD4-3E83C596B374}"/>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rPr>
              <a:t>Home Page - About Us</a:t>
            </a:r>
          </a:p>
        </p:txBody>
      </p:sp>
      <p:sp>
        <p:nvSpPr>
          <p:cNvPr id="3" name="TextBox 2">
            <a:extLst>
              <a:ext uri="{FF2B5EF4-FFF2-40B4-BE49-F238E27FC236}">
                <a16:creationId xmlns:a16="http://schemas.microsoft.com/office/drawing/2014/main" id="{A3FD3F7B-2C3A-1370-4322-BB8AD03BA8B2}"/>
              </a:ext>
            </a:extLst>
          </p:cNvPr>
          <p:cNvSpPr txBox="1"/>
          <p:nvPr/>
        </p:nvSpPr>
        <p:spPr>
          <a:xfrm>
            <a:off x="1192306" y="2985557"/>
            <a:ext cx="9471212" cy="2743199"/>
          </a:xfrm>
          <a:prstGeom prst="rect">
            <a:avLst/>
          </a:prstGeom>
        </p:spPr>
        <p:txBody>
          <a:bodyPr vert="horz" lIns="91440" tIns="45720" rIns="91440" bIns="45720" rtlCol="0">
            <a:normAutofit fontScale="85000" lnSpcReduction="10000"/>
          </a:bodyPr>
          <a:lstStyle/>
          <a:p>
            <a:pPr indent="-182880" defTabSz="914400">
              <a:lnSpc>
                <a:spcPct val="150000"/>
              </a:lnSpc>
              <a:spcAft>
                <a:spcPts val="600"/>
              </a:spcAft>
              <a:buClr>
                <a:schemeClr val="accent1">
                  <a:lumMod val="75000"/>
                </a:schemeClr>
              </a:buClr>
              <a:buSzPct val="85000"/>
              <a:buFont typeface="Wingdings" pitchFamily="2" charset="2"/>
              <a:buChar char="§"/>
            </a:pPr>
            <a:r>
              <a:rPr lang="en-US" sz="2400" dirty="0">
                <a:latin typeface="FrankRuehl" panose="020E0503060101010101" pitchFamily="34" charset="-79"/>
                <a:cs typeface="FrankRuehl" panose="020E0503060101010101" pitchFamily="34" charset="-79"/>
              </a:rPr>
              <a:t>Aasee Export is a leading manufacturer and exporter of home textiles based in Karur, South India. The company specializes in Cotton and Linen fabrics that are thoughtfully crafted into cushion covers, seat pads, table linen and kitchen linen.</a:t>
            </a:r>
          </a:p>
          <a:p>
            <a:pPr indent="-182880" defTabSz="914400">
              <a:lnSpc>
                <a:spcPct val="150000"/>
              </a:lnSpc>
              <a:spcAft>
                <a:spcPts val="600"/>
              </a:spcAft>
              <a:buClr>
                <a:schemeClr val="accent1">
                  <a:lumMod val="75000"/>
                </a:schemeClr>
              </a:buClr>
              <a:buSzPct val="85000"/>
              <a:buFont typeface="Wingdings" pitchFamily="2" charset="2"/>
              <a:buChar char="§"/>
            </a:pPr>
            <a:r>
              <a:rPr lang="en-US" sz="2400" dirty="0">
                <a:latin typeface="FrankRuehl" panose="020E0503060101010101" pitchFamily="34" charset="-79"/>
                <a:cs typeface="FrankRuehl" panose="020E0503060101010101" pitchFamily="34" charset="-79"/>
              </a:rPr>
              <a:t>Established in 1995, the company operates with its own integrated dyeing and weaving units, enabling close monitoring of production while ensuring consistent quality and reliable timelines.</a:t>
            </a:r>
          </a:p>
        </p:txBody>
      </p:sp>
      <p:sp>
        <p:nvSpPr>
          <p:cNvPr id="40" name="Oval 39">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44A5A5C-1EDF-37A4-40AD-FFBD99EF4C7F}"/>
              </a:ext>
            </a:extLst>
          </p:cNvPr>
          <p:cNvSpPr txBox="1"/>
          <p:nvPr/>
        </p:nvSpPr>
        <p:spPr>
          <a:xfrm>
            <a:off x="663388" y="2514023"/>
            <a:ext cx="3285565" cy="400110"/>
          </a:xfrm>
          <a:prstGeom prst="rect">
            <a:avLst/>
          </a:prstGeom>
          <a:noFill/>
        </p:spPr>
        <p:txBody>
          <a:bodyPr wrap="square" rtlCol="0">
            <a:spAutoFit/>
          </a:bodyPr>
          <a:lstStyle/>
          <a:p>
            <a:r>
              <a:rPr lang="en-US" sz="2000" b="1" dirty="0"/>
              <a:t>Company Introduction :</a:t>
            </a:r>
            <a:endParaRPr lang="en-IN" sz="2000" b="1" dirty="0"/>
          </a:p>
        </p:txBody>
      </p:sp>
      <p:sp>
        <p:nvSpPr>
          <p:cNvPr id="5" name="TextBox 4">
            <a:extLst>
              <a:ext uri="{FF2B5EF4-FFF2-40B4-BE49-F238E27FC236}">
                <a16:creationId xmlns:a16="http://schemas.microsoft.com/office/drawing/2014/main" id="{47B2ED66-F294-A59E-20C5-A97578646E67}"/>
              </a:ext>
            </a:extLst>
          </p:cNvPr>
          <p:cNvSpPr txBox="1"/>
          <p:nvPr/>
        </p:nvSpPr>
        <p:spPr>
          <a:xfrm>
            <a:off x="3783105" y="6163661"/>
            <a:ext cx="7691719" cy="523220"/>
          </a:xfrm>
          <a:prstGeom prst="rect">
            <a:avLst/>
          </a:prstGeom>
          <a:noFill/>
        </p:spPr>
        <p:txBody>
          <a:bodyPr wrap="square">
            <a:spAutoFit/>
          </a:bodyPr>
          <a:lstStyle/>
          <a:p>
            <a:pPr marL="285750" indent="-285750">
              <a:buFont typeface="Arial" panose="020B0604020202020204" pitchFamily="34" charset="0"/>
              <a:buChar char="•"/>
            </a:pPr>
            <a:r>
              <a:rPr lang="en-IN" sz="1400" b="1" i="1" dirty="0"/>
              <a:t>Home Page Header - </a:t>
            </a:r>
            <a:r>
              <a:rPr lang="en-IN" sz="1400" b="1" i="1" dirty="0">
                <a:hlinkClick r:id="rId7"/>
              </a:rPr>
              <a:t>https://pukraexports.com/</a:t>
            </a:r>
            <a:r>
              <a:rPr lang="en-IN" sz="1400" b="1" i="1" dirty="0"/>
              <a:t> (Please add that Get in Touch/Talk to us option where it connects to the mail-id </a:t>
            </a:r>
            <a:r>
              <a:rPr lang="en-IN" sz="1400" b="1" i="1" dirty="0">
                <a:hlinkClick r:id="rId8"/>
              </a:rPr>
              <a:t>info@aaseeexport.com</a:t>
            </a:r>
            <a:r>
              <a:rPr lang="en-IN" sz="1400" b="1" i="1" dirty="0"/>
              <a:t>)</a:t>
            </a:r>
          </a:p>
        </p:txBody>
      </p:sp>
    </p:spTree>
    <p:extLst>
      <p:ext uri="{BB962C8B-B14F-4D97-AF65-F5344CB8AC3E}">
        <p14:creationId xmlns:p14="http://schemas.microsoft.com/office/powerpoint/2010/main" val="149419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918CE9-21F2-7146-FCBD-CE4CCCB8F1FA}"/>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0A9C0157-0B7E-F56F-93B4-31A627AF0F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3F286356-4CDA-AEEC-7C01-0EF2C06CE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43E1EF70-003A-AF84-11D9-CA7DDBB4B8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77964F1A-8EFD-2ED3-B554-6FCFE0719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BB71BCE-3F30-EE20-9CBC-E18BB040A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D37E2F3B-0C99-C643-0CFE-6EA6ACA26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51D00A4B-BFF2-30C7-3D58-B58BDB0942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34089A9D-59F8-EC5A-5E7E-E9FBC9A3DCB3}"/>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rPr>
              <a:t>Home page </a:t>
            </a:r>
          </a:p>
        </p:txBody>
      </p:sp>
      <p:sp>
        <p:nvSpPr>
          <p:cNvPr id="40" name="Oval 39">
            <a:extLst>
              <a:ext uri="{FF2B5EF4-FFF2-40B4-BE49-F238E27FC236}">
                <a16:creationId xmlns:a16="http://schemas.microsoft.com/office/drawing/2014/main" id="{43478791-248D-69B7-3C24-00A884FB5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A4251FF9-059D-A23A-D21A-40EDCBA27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1E7670F9-5FAB-EEB5-E87D-E668E25277E7}"/>
              </a:ext>
            </a:extLst>
          </p:cNvPr>
          <p:cNvSpPr txBox="1"/>
          <p:nvPr/>
        </p:nvSpPr>
        <p:spPr>
          <a:xfrm>
            <a:off x="1136904" y="2810998"/>
            <a:ext cx="10222992" cy="2743199"/>
          </a:xfrm>
          <a:prstGeom prst="rect">
            <a:avLst/>
          </a:prstGeom>
        </p:spPr>
        <p:txBody>
          <a:bodyPr vert="horz" lIns="91440" tIns="45720" rIns="91440" bIns="45720" rtlCol="0">
            <a:normAutofit/>
          </a:bodyPr>
          <a:lstStyle/>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endParaRPr lang="en-US" dirty="0">
              <a:latin typeface="FrankRuehl" panose="020E0503060101010101" pitchFamily="34" charset="-79"/>
              <a:cs typeface="FrankRuehl" panose="020E0503060101010101" pitchFamily="34" charset="-79"/>
            </a:endParaRPr>
          </a:p>
        </p:txBody>
      </p:sp>
      <p:pic>
        <p:nvPicPr>
          <p:cNvPr id="9" name="Picture 8">
            <a:extLst>
              <a:ext uri="{FF2B5EF4-FFF2-40B4-BE49-F238E27FC236}">
                <a16:creationId xmlns:a16="http://schemas.microsoft.com/office/drawing/2014/main" id="{F74E7B63-3486-5DA5-F364-C25F1B53804C}"/>
              </a:ext>
            </a:extLst>
          </p:cNvPr>
          <p:cNvPicPr>
            <a:picLocks noChangeAspect="1"/>
          </p:cNvPicPr>
          <p:nvPr/>
        </p:nvPicPr>
        <p:blipFill>
          <a:blip r:embed="rId7"/>
          <a:stretch>
            <a:fillRect/>
          </a:stretch>
        </p:blipFill>
        <p:spPr>
          <a:xfrm>
            <a:off x="1909482" y="2287745"/>
            <a:ext cx="7395883" cy="3779150"/>
          </a:xfrm>
          <a:prstGeom prst="rect">
            <a:avLst/>
          </a:prstGeom>
        </p:spPr>
      </p:pic>
      <p:sp>
        <p:nvSpPr>
          <p:cNvPr id="2" name="TextBox 1">
            <a:extLst>
              <a:ext uri="{FF2B5EF4-FFF2-40B4-BE49-F238E27FC236}">
                <a16:creationId xmlns:a16="http://schemas.microsoft.com/office/drawing/2014/main" id="{3929BA33-CC53-76E7-1987-85521550C41C}"/>
              </a:ext>
            </a:extLst>
          </p:cNvPr>
          <p:cNvSpPr txBox="1"/>
          <p:nvPr/>
        </p:nvSpPr>
        <p:spPr>
          <a:xfrm>
            <a:off x="1023500" y="6235302"/>
            <a:ext cx="10222992" cy="492749"/>
          </a:xfrm>
          <a:prstGeom prst="rect">
            <a:avLst/>
          </a:prstGeom>
        </p:spPr>
        <p:txBody>
          <a:bodyPr vert="horz" lIns="91440" tIns="45720" rIns="91440" bIns="45720" rtlCol="0">
            <a:normAutofit fontScale="70000" lnSpcReduction="20000"/>
          </a:bodyPr>
          <a:lstStyle/>
          <a:p>
            <a:pPr defTabSz="914400">
              <a:lnSpc>
                <a:spcPct val="150000"/>
              </a:lnSpc>
              <a:spcAft>
                <a:spcPts val="600"/>
              </a:spcAft>
              <a:buClr>
                <a:schemeClr val="accent1">
                  <a:lumMod val="75000"/>
                </a:schemeClr>
              </a:buClr>
              <a:buSzPct val="85000"/>
            </a:pPr>
            <a:r>
              <a:rPr lang="en-US" sz="2000" b="1" i="1" dirty="0">
                <a:latin typeface="FrankRuehl" panose="020E0503060101010101" pitchFamily="34" charset="-79"/>
                <a:cs typeface="FrankRuehl" panose="020E0503060101010101" pitchFamily="34" charset="-79"/>
              </a:rPr>
              <a:t>Make similar collage for expertise in the Home Page along with the text. I have attached the images in the Home Page folder in images </a:t>
            </a:r>
          </a:p>
        </p:txBody>
      </p:sp>
    </p:spTree>
    <p:extLst>
      <p:ext uri="{BB962C8B-B14F-4D97-AF65-F5344CB8AC3E}">
        <p14:creationId xmlns:p14="http://schemas.microsoft.com/office/powerpoint/2010/main" val="4022523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F12BE3-D356-7B49-1FB5-AA6CAE879951}"/>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4843C088-D823-ACA2-73B7-96E5BBC5B9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1DE5DE74-01C7-7322-BDEE-A384991036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2E948A0B-0D8A-6A35-41A5-97F22F5EB8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5C2ACEA3-EA3A-F433-8E22-C193188EF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4BA813F-264F-74BE-FFAD-0F02B6E5D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CF7736FE-14E8-F957-F64B-8AF2985040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DDE5827F-F36B-0AF6-C9B7-612A282394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EAC2B3D7-F49D-6844-6CD2-CBC39974DFF8}"/>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latin typeface="+mj-lt"/>
                <a:ea typeface="+mj-ea"/>
                <a:cs typeface="+mj-cs"/>
              </a:rPr>
              <a:t>Our Purpose</a:t>
            </a:r>
            <a:endPar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endParaRPr>
          </a:p>
        </p:txBody>
      </p:sp>
      <p:sp>
        <p:nvSpPr>
          <p:cNvPr id="3" name="TextBox 2">
            <a:extLst>
              <a:ext uri="{FF2B5EF4-FFF2-40B4-BE49-F238E27FC236}">
                <a16:creationId xmlns:a16="http://schemas.microsoft.com/office/drawing/2014/main" id="{BF74EB57-02F1-BD3E-AB7D-CBA6D734B7FD}"/>
              </a:ext>
            </a:extLst>
          </p:cNvPr>
          <p:cNvSpPr txBox="1"/>
          <p:nvPr/>
        </p:nvSpPr>
        <p:spPr>
          <a:xfrm>
            <a:off x="1069848" y="2972110"/>
            <a:ext cx="10222992" cy="2743199"/>
          </a:xfrm>
          <a:prstGeom prst="rect">
            <a:avLst/>
          </a:prstGeom>
        </p:spPr>
        <p:txBody>
          <a:bodyPr vert="horz" lIns="91440" tIns="45720" rIns="91440" bIns="45720" rtlCol="0">
            <a:normAutofit/>
          </a:bodyPr>
          <a:lstStyle/>
          <a:p>
            <a:pPr defTabSz="914400">
              <a:lnSpc>
                <a:spcPct val="150000"/>
              </a:lnSpc>
              <a:spcAft>
                <a:spcPts val="600"/>
              </a:spcAft>
              <a:buClr>
                <a:schemeClr val="accent1">
                  <a:lumMod val="75000"/>
                </a:schemeClr>
              </a:buClr>
              <a:buSzPct val="85000"/>
            </a:pPr>
            <a:r>
              <a:rPr lang="en-US" sz="2000" dirty="0">
                <a:latin typeface="FrankRuehl" panose="020E0503060101010101" pitchFamily="34" charset="-79"/>
                <a:cs typeface="FrankRuehl" panose="020E0503060101010101" pitchFamily="34" charset="-79"/>
              </a:rPr>
              <a:t>To leverage our decades of manufacturing expertise to develop distinctive home-textile creations and expand our global presence through innovation, quality, and scale.</a:t>
            </a:r>
          </a:p>
        </p:txBody>
      </p:sp>
      <p:sp>
        <p:nvSpPr>
          <p:cNvPr id="40" name="Oval 39">
            <a:extLst>
              <a:ext uri="{FF2B5EF4-FFF2-40B4-BE49-F238E27FC236}">
                <a16:creationId xmlns:a16="http://schemas.microsoft.com/office/drawing/2014/main" id="{AC09EBFF-1EBF-A074-4DD4-62D3FCD52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E3725A89-70C2-4F9B-4C59-50C5BDE0C1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E1B4F9DF-91EA-0F52-CE2C-D35A7B1A2B58}"/>
              </a:ext>
            </a:extLst>
          </p:cNvPr>
          <p:cNvSpPr txBox="1"/>
          <p:nvPr/>
        </p:nvSpPr>
        <p:spPr>
          <a:xfrm>
            <a:off x="663388" y="2514023"/>
            <a:ext cx="3285565" cy="400110"/>
          </a:xfrm>
          <a:prstGeom prst="rect">
            <a:avLst/>
          </a:prstGeom>
          <a:noFill/>
        </p:spPr>
        <p:txBody>
          <a:bodyPr wrap="square" rtlCol="0">
            <a:spAutoFit/>
          </a:bodyPr>
          <a:lstStyle/>
          <a:p>
            <a:r>
              <a:rPr lang="en-US" sz="2000" b="1" dirty="0"/>
              <a:t>Vision:</a:t>
            </a:r>
            <a:endParaRPr lang="en-IN" sz="2000" b="1" dirty="0"/>
          </a:p>
        </p:txBody>
      </p:sp>
      <p:sp>
        <p:nvSpPr>
          <p:cNvPr id="2" name="TextBox 1">
            <a:extLst>
              <a:ext uri="{FF2B5EF4-FFF2-40B4-BE49-F238E27FC236}">
                <a16:creationId xmlns:a16="http://schemas.microsoft.com/office/drawing/2014/main" id="{50D486AC-E961-EBF0-3195-134B78084751}"/>
              </a:ext>
            </a:extLst>
          </p:cNvPr>
          <p:cNvSpPr txBox="1"/>
          <p:nvPr/>
        </p:nvSpPr>
        <p:spPr>
          <a:xfrm>
            <a:off x="663388" y="4028471"/>
            <a:ext cx="3285565" cy="400110"/>
          </a:xfrm>
          <a:prstGeom prst="rect">
            <a:avLst/>
          </a:prstGeom>
          <a:noFill/>
        </p:spPr>
        <p:txBody>
          <a:bodyPr wrap="square" rtlCol="0">
            <a:spAutoFit/>
          </a:bodyPr>
          <a:lstStyle/>
          <a:p>
            <a:r>
              <a:rPr lang="en-US" sz="2000" b="1" dirty="0"/>
              <a:t>Mission:</a:t>
            </a:r>
            <a:endParaRPr lang="en-IN" sz="2000" b="1" dirty="0"/>
          </a:p>
        </p:txBody>
      </p:sp>
      <p:sp>
        <p:nvSpPr>
          <p:cNvPr id="5" name="TextBox 4">
            <a:extLst>
              <a:ext uri="{FF2B5EF4-FFF2-40B4-BE49-F238E27FC236}">
                <a16:creationId xmlns:a16="http://schemas.microsoft.com/office/drawing/2014/main" id="{CC807484-3CB9-A5BC-85F2-E88EDDE9ECD5}"/>
              </a:ext>
            </a:extLst>
          </p:cNvPr>
          <p:cNvSpPr txBox="1"/>
          <p:nvPr/>
        </p:nvSpPr>
        <p:spPr>
          <a:xfrm>
            <a:off x="1016060" y="4679423"/>
            <a:ext cx="10222992" cy="2743199"/>
          </a:xfrm>
          <a:prstGeom prst="rect">
            <a:avLst/>
          </a:prstGeom>
        </p:spPr>
        <p:txBody>
          <a:bodyPr vert="horz" lIns="91440" tIns="45720" rIns="91440" bIns="45720" rtlCol="0">
            <a:normAutofit/>
          </a:bodyPr>
          <a:lstStyle/>
          <a:p>
            <a:pPr defTabSz="914400">
              <a:lnSpc>
                <a:spcPct val="150000"/>
              </a:lnSpc>
              <a:spcAft>
                <a:spcPts val="600"/>
              </a:spcAft>
              <a:buClr>
                <a:schemeClr val="accent1">
                  <a:lumMod val="75000"/>
                </a:schemeClr>
              </a:buClr>
              <a:buSzPct val="85000"/>
            </a:pPr>
            <a:r>
              <a:rPr lang="en-US" sz="2000" dirty="0">
                <a:latin typeface="FrankRuehl" panose="020E0503060101010101" pitchFamily="34" charset="-79"/>
                <a:cs typeface="FrankRuehl" panose="020E0503060101010101" pitchFamily="34" charset="-79"/>
              </a:rPr>
              <a:t>Our mission is to be a trusted home-textile manufacturing partner by delivering consistent quality, maintaining reliable production timelines, and providing responsive service to meet the evolving expectations of customers worldwide</a:t>
            </a:r>
          </a:p>
        </p:txBody>
      </p:sp>
    </p:spTree>
    <p:extLst>
      <p:ext uri="{BB962C8B-B14F-4D97-AF65-F5344CB8AC3E}">
        <p14:creationId xmlns:p14="http://schemas.microsoft.com/office/powerpoint/2010/main" val="1841115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BBF58A-212A-4940-13D7-D0935AC1F1AA}"/>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447DAA77-A0D8-CB79-F81E-D1EF84799D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30A03948-F77B-1E1F-CA53-B45CCF2DE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036A8435-66EF-CEBF-B05F-101BC8BC63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DCB3B3A5-3560-9409-FAC7-48039E3EBE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C166954-8B73-0CC7-6F5F-9D60AA6F8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A67292B4-70CE-9B2F-0C83-B1F4E78749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08CE339E-5F39-6477-E030-CAC29760D2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54286C0B-3418-B746-C6F8-801FD306BBD8}"/>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rPr>
              <a:t>Our purpose - Core Values </a:t>
            </a:r>
          </a:p>
        </p:txBody>
      </p:sp>
      <p:sp>
        <p:nvSpPr>
          <p:cNvPr id="3" name="TextBox 2">
            <a:extLst>
              <a:ext uri="{FF2B5EF4-FFF2-40B4-BE49-F238E27FC236}">
                <a16:creationId xmlns:a16="http://schemas.microsoft.com/office/drawing/2014/main" id="{D40C51AE-E1A1-ADCD-1E26-DBA51B708281}"/>
              </a:ext>
            </a:extLst>
          </p:cNvPr>
          <p:cNvSpPr txBox="1"/>
          <p:nvPr/>
        </p:nvSpPr>
        <p:spPr>
          <a:xfrm>
            <a:off x="1069848" y="2892325"/>
            <a:ext cx="10222992" cy="2743199"/>
          </a:xfrm>
          <a:prstGeom prst="rect">
            <a:avLst/>
          </a:prstGeom>
        </p:spPr>
        <p:txBody>
          <a:bodyPr vert="horz" lIns="91440" tIns="45720" rIns="91440" bIns="45720" rtlCol="0">
            <a:normAutofit/>
          </a:bodyPr>
          <a:lstStyle/>
          <a:p>
            <a:pPr defTabSz="914400">
              <a:lnSpc>
                <a:spcPct val="150000"/>
              </a:lnSpc>
              <a:spcAft>
                <a:spcPts val="600"/>
              </a:spcAft>
              <a:buClr>
                <a:schemeClr val="accent1">
                  <a:lumMod val="75000"/>
                </a:schemeClr>
              </a:buClr>
              <a:buSzPct val="85000"/>
            </a:pPr>
            <a:r>
              <a:rPr lang="en-US" dirty="0"/>
              <a:t>We believe our people are the foundation of our success. We are committed to providing a safe, respectful, and supportive work environment where our workforce is valued, cared for, and empowered to contribute their best.</a:t>
            </a:r>
            <a:endParaRPr lang="en-US" dirty="0">
              <a:latin typeface="FrankRuehl" panose="020E0503060101010101" pitchFamily="34" charset="-79"/>
              <a:cs typeface="FrankRuehl" panose="020E0503060101010101" pitchFamily="34" charset="-79"/>
            </a:endParaRPr>
          </a:p>
        </p:txBody>
      </p:sp>
      <p:sp>
        <p:nvSpPr>
          <p:cNvPr id="40" name="Oval 39">
            <a:extLst>
              <a:ext uri="{FF2B5EF4-FFF2-40B4-BE49-F238E27FC236}">
                <a16:creationId xmlns:a16="http://schemas.microsoft.com/office/drawing/2014/main" id="{DEC3FA30-8CAE-B235-C714-BD2515F3DE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54579328-EBB2-C022-38A6-900EEC602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36B100D4-B480-8DE0-3B8C-942235D01794}"/>
              </a:ext>
            </a:extLst>
          </p:cNvPr>
          <p:cNvSpPr txBox="1"/>
          <p:nvPr/>
        </p:nvSpPr>
        <p:spPr>
          <a:xfrm>
            <a:off x="663388" y="2514023"/>
            <a:ext cx="5934636" cy="400110"/>
          </a:xfrm>
          <a:prstGeom prst="rect">
            <a:avLst/>
          </a:prstGeom>
          <a:noFill/>
        </p:spPr>
        <p:txBody>
          <a:bodyPr wrap="square" rtlCol="0">
            <a:spAutoFit/>
          </a:bodyPr>
          <a:lstStyle/>
          <a:p>
            <a:r>
              <a:rPr lang="en-US" sz="2000" b="1" dirty="0"/>
              <a:t>Empowering the working community:</a:t>
            </a:r>
            <a:endParaRPr lang="en-IN" sz="2000" b="1" dirty="0"/>
          </a:p>
        </p:txBody>
      </p:sp>
      <p:sp>
        <p:nvSpPr>
          <p:cNvPr id="2" name="TextBox 1">
            <a:extLst>
              <a:ext uri="{FF2B5EF4-FFF2-40B4-BE49-F238E27FC236}">
                <a16:creationId xmlns:a16="http://schemas.microsoft.com/office/drawing/2014/main" id="{4B34E740-241F-4C7E-B764-13A3C3C723E4}"/>
              </a:ext>
            </a:extLst>
          </p:cNvPr>
          <p:cNvSpPr txBox="1"/>
          <p:nvPr/>
        </p:nvSpPr>
        <p:spPr>
          <a:xfrm>
            <a:off x="663388" y="4285901"/>
            <a:ext cx="4806697" cy="400110"/>
          </a:xfrm>
          <a:prstGeom prst="rect">
            <a:avLst/>
          </a:prstGeom>
          <a:noFill/>
        </p:spPr>
        <p:txBody>
          <a:bodyPr wrap="square" rtlCol="0">
            <a:spAutoFit/>
          </a:bodyPr>
          <a:lstStyle/>
          <a:p>
            <a:r>
              <a:rPr lang="en-US" sz="2000" b="1" dirty="0"/>
              <a:t>Adaptability and Innovation:</a:t>
            </a:r>
            <a:endParaRPr lang="en-IN" sz="2000" b="1" dirty="0"/>
          </a:p>
        </p:txBody>
      </p:sp>
      <p:sp>
        <p:nvSpPr>
          <p:cNvPr id="5" name="TextBox 4">
            <a:extLst>
              <a:ext uri="{FF2B5EF4-FFF2-40B4-BE49-F238E27FC236}">
                <a16:creationId xmlns:a16="http://schemas.microsoft.com/office/drawing/2014/main" id="{65F5F331-CD08-E78D-597B-484D853FE411}"/>
              </a:ext>
            </a:extLst>
          </p:cNvPr>
          <p:cNvSpPr txBox="1"/>
          <p:nvPr/>
        </p:nvSpPr>
        <p:spPr>
          <a:xfrm>
            <a:off x="984504" y="4738681"/>
            <a:ext cx="10027996" cy="2743199"/>
          </a:xfrm>
          <a:prstGeom prst="rect">
            <a:avLst/>
          </a:prstGeom>
        </p:spPr>
        <p:txBody>
          <a:bodyPr vert="horz" lIns="91440" tIns="45720" rIns="91440" bIns="45720" rtlCol="0">
            <a:normAutofit/>
          </a:bodyPr>
          <a:lstStyle/>
          <a:p>
            <a:pPr defTabSz="914400">
              <a:lnSpc>
                <a:spcPct val="150000"/>
              </a:lnSpc>
              <a:spcAft>
                <a:spcPts val="600"/>
              </a:spcAft>
              <a:buClr>
                <a:schemeClr val="accent1">
                  <a:lumMod val="75000"/>
                </a:schemeClr>
              </a:buClr>
              <a:buSzPct val="85000"/>
            </a:pPr>
            <a:r>
              <a:rPr lang="en-US" dirty="0"/>
              <a:t>We embrace creativity and remain open to exploring new designs and product ideas. By encouraging fresh perspectives and collaborative development, we work closely with our customers to co-create innovative home-textile creations</a:t>
            </a:r>
            <a:endParaRPr lang="en-US" dirty="0">
              <a:latin typeface="FrankRuehl" panose="020E0503060101010101" pitchFamily="34" charset="-79"/>
              <a:cs typeface="FrankRuehl" panose="020E0503060101010101" pitchFamily="34" charset="-79"/>
            </a:endParaRPr>
          </a:p>
        </p:txBody>
      </p:sp>
      <p:sp>
        <p:nvSpPr>
          <p:cNvPr id="6" name="Footer Placeholder 5">
            <a:extLst>
              <a:ext uri="{FF2B5EF4-FFF2-40B4-BE49-F238E27FC236}">
                <a16:creationId xmlns:a16="http://schemas.microsoft.com/office/drawing/2014/main" id="{9FD007E6-51A5-F762-AF42-66D212A22BDF}"/>
              </a:ext>
            </a:extLst>
          </p:cNvPr>
          <p:cNvSpPr>
            <a:spLocks noGrp="1"/>
          </p:cNvSpPr>
          <p:nvPr>
            <p:ph type="ftr" sz="quarter" idx="11"/>
          </p:nvPr>
        </p:nvSpPr>
        <p:spPr>
          <a:xfrm>
            <a:off x="5074076" y="6477605"/>
            <a:ext cx="6327648" cy="365125"/>
          </a:xfrm>
        </p:spPr>
        <p:txBody>
          <a:bodyPr/>
          <a:lstStyle/>
          <a:p>
            <a:r>
              <a:rPr lang="en-IN" sz="1600" b="1" i="1" dirty="0"/>
              <a:t>Reference</a:t>
            </a:r>
            <a:r>
              <a:rPr lang="en-IN" sz="1600" dirty="0"/>
              <a:t> - </a:t>
            </a:r>
            <a:r>
              <a:rPr lang="en-IN" sz="1600" dirty="0">
                <a:hlinkClick r:id="rId7"/>
              </a:rPr>
              <a:t>https://www.alokind.com/vision-mission-value.html</a:t>
            </a:r>
            <a:endParaRPr lang="en-IN" sz="1600" dirty="0"/>
          </a:p>
          <a:p>
            <a:endParaRPr lang="en-IN" sz="1600" dirty="0"/>
          </a:p>
        </p:txBody>
      </p:sp>
    </p:spTree>
    <p:extLst>
      <p:ext uri="{BB962C8B-B14F-4D97-AF65-F5344CB8AC3E}">
        <p14:creationId xmlns:p14="http://schemas.microsoft.com/office/powerpoint/2010/main" val="1638637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F2F25D-5283-8AD6-34E6-375176B04185}"/>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80FC5694-5AA6-C547-2B92-53396345DA0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B1E08675-6F7D-8B60-DFCC-A4682DC33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F2E9177B-DD6F-5E51-4888-CB4DE36324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B73654C5-5941-2785-61EB-E56A0EF08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3421674-8EEB-E327-C4BC-DAECFF37FB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E6F65282-B70B-E814-1DBB-3A2DB8A5E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F3EE581C-87BB-6213-D24E-50A8ACD09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A8E94F59-88F8-2059-5756-6992C811BD8E}"/>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rPr>
              <a:t>Core Values </a:t>
            </a:r>
          </a:p>
        </p:txBody>
      </p:sp>
      <p:sp>
        <p:nvSpPr>
          <p:cNvPr id="3" name="TextBox 2">
            <a:extLst>
              <a:ext uri="{FF2B5EF4-FFF2-40B4-BE49-F238E27FC236}">
                <a16:creationId xmlns:a16="http://schemas.microsoft.com/office/drawing/2014/main" id="{5E02C0FC-E253-20FA-85BF-1B66A0972B9D}"/>
              </a:ext>
            </a:extLst>
          </p:cNvPr>
          <p:cNvSpPr txBox="1"/>
          <p:nvPr/>
        </p:nvSpPr>
        <p:spPr>
          <a:xfrm>
            <a:off x="1069848" y="2972110"/>
            <a:ext cx="10222992" cy="2743199"/>
          </a:xfrm>
          <a:prstGeom prst="rect">
            <a:avLst/>
          </a:prstGeom>
        </p:spPr>
        <p:txBody>
          <a:bodyPr vert="horz" lIns="91440" tIns="45720" rIns="91440" bIns="45720" rtlCol="0">
            <a:normAutofit/>
          </a:bodyPr>
          <a:lstStyle/>
          <a:p>
            <a:pPr defTabSz="914400">
              <a:lnSpc>
                <a:spcPct val="150000"/>
              </a:lnSpc>
              <a:spcAft>
                <a:spcPts val="600"/>
              </a:spcAft>
              <a:buClr>
                <a:schemeClr val="accent1">
                  <a:lumMod val="75000"/>
                </a:schemeClr>
              </a:buClr>
              <a:buSzPct val="85000"/>
            </a:pPr>
            <a:r>
              <a:rPr lang="en-US" dirty="0"/>
              <a:t>We build long-term relationships through honesty, transparency, and open communication. By understanding our customers’ requirements, we strive to consistently meet their expectations in quality standards and production timelines.</a:t>
            </a:r>
            <a:endParaRPr lang="en-US" dirty="0">
              <a:latin typeface="FrankRuehl" panose="020E0503060101010101" pitchFamily="34" charset="-79"/>
              <a:cs typeface="FrankRuehl" panose="020E0503060101010101" pitchFamily="34" charset="-79"/>
            </a:endParaRPr>
          </a:p>
        </p:txBody>
      </p:sp>
      <p:sp>
        <p:nvSpPr>
          <p:cNvPr id="40" name="Oval 39">
            <a:extLst>
              <a:ext uri="{FF2B5EF4-FFF2-40B4-BE49-F238E27FC236}">
                <a16:creationId xmlns:a16="http://schemas.microsoft.com/office/drawing/2014/main" id="{2E337AD3-7D6B-AC4E-FE1B-EF6C891FF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99FFFF69-62C8-33A9-0C61-4E7CE7E4F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E2826D42-4975-103F-5035-E171A5843BE1}"/>
              </a:ext>
            </a:extLst>
          </p:cNvPr>
          <p:cNvSpPr txBox="1"/>
          <p:nvPr/>
        </p:nvSpPr>
        <p:spPr>
          <a:xfrm>
            <a:off x="663388" y="2514023"/>
            <a:ext cx="5934636" cy="400110"/>
          </a:xfrm>
          <a:prstGeom prst="rect">
            <a:avLst/>
          </a:prstGeom>
          <a:noFill/>
        </p:spPr>
        <p:txBody>
          <a:bodyPr wrap="square" rtlCol="0">
            <a:spAutoFit/>
          </a:bodyPr>
          <a:lstStyle/>
          <a:p>
            <a:r>
              <a:rPr lang="en-US" sz="2000" b="1" dirty="0"/>
              <a:t>Reliability and Transparency:</a:t>
            </a:r>
            <a:endParaRPr lang="en-IN" sz="2000" b="1" dirty="0"/>
          </a:p>
        </p:txBody>
      </p:sp>
      <p:sp>
        <p:nvSpPr>
          <p:cNvPr id="2" name="TextBox 1">
            <a:extLst>
              <a:ext uri="{FF2B5EF4-FFF2-40B4-BE49-F238E27FC236}">
                <a16:creationId xmlns:a16="http://schemas.microsoft.com/office/drawing/2014/main" id="{7EA1E9B9-5421-DEE9-3C90-243DD10AB515}"/>
              </a:ext>
            </a:extLst>
          </p:cNvPr>
          <p:cNvSpPr txBox="1"/>
          <p:nvPr/>
        </p:nvSpPr>
        <p:spPr>
          <a:xfrm>
            <a:off x="663388" y="4559826"/>
            <a:ext cx="4806697" cy="400110"/>
          </a:xfrm>
          <a:prstGeom prst="rect">
            <a:avLst/>
          </a:prstGeom>
          <a:noFill/>
        </p:spPr>
        <p:txBody>
          <a:bodyPr wrap="square" rtlCol="0">
            <a:spAutoFit/>
          </a:bodyPr>
          <a:lstStyle/>
          <a:p>
            <a:r>
              <a:rPr lang="en-US" sz="2000" b="1" dirty="0"/>
              <a:t>Sustainability:</a:t>
            </a:r>
            <a:endParaRPr lang="en-IN" sz="2000" b="1" dirty="0"/>
          </a:p>
        </p:txBody>
      </p:sp>
      <p:sp>
        <p:nvSpPr>
          <p:cNvPr id="5" name="TextBox 4">
            <a:extLst>
              <a:ext uri="{FF2B5EF4-FFF2-40B4-BE49-F238E27FC236}">
                <a16:creationId xmlns:a16="http://schemas.microsoft.com/office/drawing/2014/main" id="{3F88DF9E-A315-66CA-B3EE-82472DA06F51}"/>
              </a:ext>
            </a:extLst>
          </p:cNvPr>
          <p:cNvSpPr txBox="1"/>
          <p:nvPr/>
        </p:nvSpPr>
        <p:spPr>
          <a:xfrm>
            <a:off x="1040654" y="4915055"/>
            <a:ext cx="10027996" cy="2743199"/>
          </a:xfrm>
          <a:prstGeom prst="rect">
            <a:avLst/>
          </a:prstGeom>
        </p:spPr>
        <p:txBody>
          <a:bodyPr vert="horz" lIns="91440" tIns="45720" rIns="91440" bIns="45720" rtlCol="0">
            <a:normAutofit/>
          </a:bodyPr>
          <a:lstStyle/>
          <a:p>
            <a:pPr defTabSz="914400">
              <a:lnSpc>
                <a:spcPct val="150000"/>
              </a:lnSpc>
              <a:spcAft>
                <a:spcPts val="600"/>
              </a:spcAft>
              <a:buClr>
                <a:schemeClr val="accent1">
                  <a:lumMod val="75000"/>
                </a:schemeClr>
              </a:buClr>
              <a:buSzPct val="85000"/>
            </a:pPr>
            <a:r>
              <a:rPr lang="en-US" dirty="0"/>
              <a:t>We are committed to responsible manufacturing practices by working primarily with natural fibers such as cotton and linen and maintaining a clean supply chain. We also incorporate recycled materials, including recycled cotton and polyester, to support more sustainable production.</a:t>
            </a:r>
            <a:endParaRPr lang="en-US" dirty="0">
              <a:latin typeface="FrankRuehl" panose="020E0503060101010101" pitchFamily="34" charset="-79"/>
              <a:cs typeface="FrankRuehl" panose="020E0503060101010101" pitchFamily="34" charset="-79"/>
            </a:endParaRPr>
          </a:p>
        </p:txBody>
      </p:sp>
    </p:spTree>
    <p:extLst>
      <p:ext uri="{BB962C8B-B14F-4D97-AF65-F5344CB8AC3E}">
        <p14:creationId xmlns:p14="http://schemas.microsoft.com/office/powerpoint/2010/main" val="3209720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6205CC-BDE9-69FB-83B7-C5EBA63EC164}"/>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22CC971B-9DBF-3C1F-30C7-BB8E044007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68DFB663-6F73-0729-E804-AE626A6F1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6822A5F8-1D5E-4D43-7517-BB3DA3D4D4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2AB1B7E2-973C-BFAD-F29A-CED2170E2B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B9097C4-0579-DCF3-E846-294E39DEF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E5377DD5-9F7F-9F00-93A6-AF9C8B229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0FCF90C7-8CE2-53F9-3D18-AC3D084C98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0F605117-000D-907A-89A9-194B56B47567}"/>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rPr>
              <a:t>infrastructure</a:t>
            </a:r>
          </a:p>
        </p:txBody>
      </p:sp>
      <p:sp>
        <p:nvSpPr>
          <p:cNvPr id="3" name="TextBox 2">
            <a:extLst>
              <a:ext uri="{FF2B5EF4-FFF2-40B4-BE49-F238E27FC236}">
                <a16:creationId xmlns:a16="http://schemas.microsoft.com/office/drawing/2014/main" id="{DB45B2ED-5994-53AB-FCA4-BF1B7320AEAA}"/>
              </a:ext>
            </a:extLst>
          </p:cNvPr>
          <p:cNvSpPr txBox="1"/>
          <p:nvPr/>
        </p:nvSpPr>
        <p:spPr>
          <a:xfrm>
            <a:off x="1069848" y="2972110"/>
            <a:ext cx="10222992" cy="2743199"/>
          </a:xfrm>
          <a:prstGeom prst="rect">
            <a:avLst/>
          </a:prstGeom>
        </p:spPr>
        <p:txBody>
          <a:bodyPr vert="horz" lIns="91440" tIns="45720" rIns="91440" bIns="45720" rtlCol="0">
            <a:normAutofit fontScale="92500"/>
          </a:bodyPr>
          <a:lstStyle/>
          <a:p>
            <a:pPr defTabSz="914400">
              <a:lnSpc>
                <a:spcPct val="150000"/>
              </a:lnSpc>
              <a:spcAft>
                <a:spcPts val="600"/>
              </a:spcAft>
              <a:buClr>
                <a:schemeClr val="accent1">
                  <a:lumMod val="75000"/>
                </a:schemeClr>
              </a:buClr>
              <a:buSzPct val="85000"/>
            </a:pPr>
            <a:r>
              <a:rPr lang="en-US" dirty="0"/>
              <a:t>Aasee Export operates a fully equipped manufacturing facility spread across 8 acres, supported by a dedicated workforce of over 200 skilled personnel. </a:t>
            </a:r>
          </a:p>
          <a:p>
            <a:pPr defTabSz="914400">
              <a:lnSpc>
                <a:spcPct val="150000"/>
              </a:lnSpc>
              <a:spcAft>
                <a:spcPts val="600"/>
              </a:spcAft>
              <a:buClr>
                <a:schemeClr val="accent1">
                  <a:lumMod val="75000"/>
                </a:schemeClr>
              </a:buClr>
              <a:buSzPct val="85000"/>
            </a:pPr>
            <a:r>
              <a:rPr lang="en-US" dirty="0"/>
              <a:t>Our integrated infrastructure includes specialized units for</a:t>
            </a:r>
            <a:r>
              <a:rPr lang="en-US" b="1" dirty="0"/>
              <a:t> in-house hank dyeing, weaving looms, checking, finishing, stitching, and packaging</a:t>
            </a:r>
            <a:r>
              <a:rPr lang="en-US" dirty="0"/>
              <a:t>, including vacuum packing. This streamlined manufacturing setup allows us to closely monitor every stage of the production process, ensuring consistent quality, operational efficiency, and adherence to international standards.</a:t>
            </a:r>
            <a:endParaRPr lang="en-US" dirty="0">
              <a:latin typeface="FrankRuehl" panose="020E0503060101010101" pitchFamily="34" charset="-79"/>
              <a:cs typeface="FrankRuehl" panose="020E0503060101010101" pitchFamily="34" charset="-79"/>
            </a:endParaRPr>
          </a:p>
        </p:txBody>
      </p:sp>
      <p:sp>
        <p:nvSpPr>
          <p:cNvPr id="40" name="Oval 39">
            <a:extLst>
              <a:ext uri="{FF2B5EF4-FFF2-40B4-BE49-F238E27FC236}">
                <a16:creationId xmlns:a16="http://schemas.microsoft.com/office/drawing/2014/main" id="{A07BA921-11A7-4829-1408-E36B2BEED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357782F1-C2E5-7241-A852-BC8AFE81E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D1D2D725-C144-38EC-8E2B-A82BE88E162B}"/>
              </a:ext>
            </a:extLst>
          </p:cNvPr>
          <p:cNvSpPr txBox="1"/>
          <p:nvPr/>
        </p:nvSpPr>
        <p:spPr>
          <a:xfrm>
            <a:off x="663388" y="2514023"/>
            <a:ext cx="5934636" cy="400110"/>
          </a:xfrm>
          <a:prstGeom prst="rect">
            <a:avLst/>
          </a:prstGeom>
          <a:noFill/>
        </p:spPr>
        <p:txBody>
          <a:bodyPr wrap="square" rtlCol="0">
            <a:spAutoFit/>
          </a:bodyPr>
          <a:lstStyle/>
          <a:p>
            <a:r>
              <a:rPr lang="en-US" sz="2000" b="1" dirty="0"/>
              <a:t>Introduction:</a:t>
            </a:r>
            <a:endParaRPr lang="en-IN" sz="2000" b="1" dirty="0"/>
          </a:p>
        </p:txBody>
      </p:sp>
    </p:spTree>
    <p:extLst>
      <p:ext uri="{BB962C8B-B14F-4D97-AF65-F5344CB8AC3E}">
        <p14:creationId xmlns:p14="http://schemas.microsoft.com/office/powerpoint/2010/main" val="243388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08B3D4-769F-8238-1573-A0CDD130C2CA}"/>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F1C049CE-8283-5A37-E4F2-27DC9059A1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8734BD06-9DA7-495E-40B0-08931CE7F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A66665BF-E5A1-B97D-07BA-BC75C4901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543B1AFB-2CC7-7D79-AA2E-97B1AEA86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B696E1F-8900-F1CD-27E0-98E36D59B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6FF7FFE3-83D0-BF1D-794C-32EE5E89E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38B2FB0C-C85C-C7CF-4C63-4D8CC6C98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9FE8AF69-2583-A9AC-D470-9F6165DFE120}"/>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rPr>
              <a:t>infrastructure</a:t>
            </a:r>
          </a:p>
        </p:txBody>
      </p:sp>
      <p:sp>
        <p:nvSpPr>
          <p:cNvPr id="3" name="TextBox 2">
            <a:extLst>
              <a:ext uri="{FF2B5EF4-FFF2-40B4-BE49-F238E27FC236}">
                <a16:creationId xmlns:a16="http://schemas.microsoft.com/office/drawing/2014/main" id="{76BB102B-3282-B28B-1F88-BC0F4E7E1DC6}"/>
              </a:ext>
            </a:extLst>
          </p:cNvPr>
          <p:cNvSpPr txBox="1"/>
          <p:nvPr/>
        </p:nvSpPr>
        <p:spPr>
          <a:xfrm>
            <a:off x="1132601" y="3511754"/>
            <a:ext cx="10222992" cy="2743199"/>
          </a:xfrm>
          <a:prstGeom prst="rect">
            <a:avLst/>
          </a:prstGeom>
        </p:spPr>
        <p:txBody>
          <a:bodyPr vert="horz" lIns="91440" tIns="45720" rIns="91440" bIns="45720" rtlCol="0">
            <a:normAutofit/>
          </a:bodyPr>
          <a:lstStyle/>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t>We have a fully integrated in-house </a:t>
            </a:r>
            <a:r>
              <a:rPr lang="en-US" b="1" dirty="0"/>
              <a:t>Hank Dyeing facility </a:t>
            </a:r>
            <a:r>
              <a:rPr lang="en-US" dirty="0"/>
              <a:t>capable of dyeing </a:t>
            </a:r>
            <a:r>
              <a:rPr lang="en-US" b="1" dirty="0"/>
              <a:t>90,000 kg of yarn</a:t>
            </a:r>
            <a:r>
              <a:rPr lang="en-US" dirty="0"/>
              <a:t> every month.</a:t>
            </a:r>
          </a:p>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t> The unit is supported by an </a:t>
            </a:r>
            <a:r>
              <a:rPr lang="en-US" b="1" dirty="0"/>
              <a:t>advanced sewage treatment plant </a:t>
            </a:r>
            <a:r>
              <a:rPr lang="en-US" dirty="0"/>
              <a:t>that enables zero effluent discharge, ensuring responsible and eco-conscious production.</a:t>
            </a:r>
            <a:endParaRPr lang="en-US" dirty="0">
              <a:latin typeface="FrankRuehl" panose="020E0503060101010101" pitchFamily="34" charset="-79"/>
              <a:cs typeface="FrankRuehl" panose="020E0503060101010101" pitchFamily="34" charset="-79"/>
            </a:endParaRPr>
          </a:p>
        </p:txBody>
      </p:sp>
      <p:sp>
        <p:nvSpPr>
          <p:cNvPr id="40" name="Oval 39">
            <a:extLst>
              <a:ext uri="{FF2B5EF4-FFF2-40B4-BE49-F238E27FC236}">
                <a16:creationId xmlns:a16="http://schemas.microsoft.com/office/drawing/2014/main" id="{383D51E4-C0E4-D677-34B6-BB42E54F3F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2460EDCC-2469-4BD0-95A8-8CF8F114E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4E241C22-69FA-9455-7FEB-7F197BB380EF}"/>
              </a:ext>
            </a:extLst>
          </p:cNvPr>
          <p:cNvSpPr txBox="1"/>
          <p:nvPr/>
        </p:nvSpPr>
        <p:spPr>
          <a:xfrm>
            <a:off x="936812" y="2850200"/>
            <a:ext cx="5934636" cy="400110"/>
          </a:xfrm>
          <a:prstGeom prst="rect">
            <a:avLst/>
          </a:prstGeom>
          <a:noFill/>
        </p:spPr>
        <p:txBody>
          <a:bodyPr wrap="square" rtlCol="0">
            <a:spAutoFit/>
          </a:bodyPr>
          <a:lstStyle/>
          <a:p>
            <a:r>
              <a:rPr lang="en-US" sz="2000" b="1" dirty="0"/>
              <a:t>Dyeing:</a:t>
            </a:r>
            <a:endParaRPr lang="en-IN" sz="2000" b="1" dirty="0"/>
          </a:p>
        </p:txBody>
      </p:sp>
      <p:sp>
        <p:nvSpPr>
          <p:cNvPr id="5" name="TextBox 4">
            <a:extLst>
              <a:ext uri="{FF2B5EF4-FFF2-40B4-BE49-F238E27FC236}">
                <a16:creationId xmlns:a16="http://schemas.microsoft.com/office/drawing/2014/main" id="{1C5133C0-BE5F-6123-1282-16BED7EC8A3F}"/>
              </a:ext>
            </a:extLst>
          </p:cNvPr>
          <p:cNvSpPr txBox="1"/>
          <p:nvPr/>
        </p:nvSpPr>
        <p:spPr>
          <a:xfrm>
            <a:off x="4536141" y="6177289"/>
            <a:ext cx="7042694" cy="584775"/>
          </a:xfrm>
          <a:prstGeom prst="rect">
            <a:avLst/>
          </a:prstGeom>
          <a:noFill/>
        </p:spPr>
        <p:txBody>
          <a:bodyPr wrap="square">
            <a:spAutoFit/>
          </a:bodyPr>
          <a:lstStyle/>
          <a:p>
            <a:r>
              <a:rPr lang="en-IN" sz="1600" b="1" i="1" dirty="0"/>
              <a:t>Reference : </a:t>
            </a:r>
            <a:r>
              <a:rPr lang="en-IN" sz="1600" b="1" i="1" dirty="0">
                <a:hlinkClick r:id="rId7"/>
              </a:rPr>
              <a:t>https://rcm-organic.co/our-capabilities/#our-verticals</a:t>
            </a:r>
            <a:r>
              <a:rPr lang="en-IN" sz="1600" b="1" i="1" dirty="0"/>
              <a:t> (Similar to In-house processes in this page)</a:t>
            </a:r>
          </a:p>
        </p:txBody>
      </p:sp>
    </p:spTree>
    <p:extLst>
      <p:ext uri="{BB962C8B-B14F-4D97-AF65-F5344CB8AC3E}">
        <p14:creationId xmlns:p14="http://schemas.microsoft.com/office/powerpoint/2010/main" val="2131978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B7543F-D12F-A645-FCD0-1F52D930ED5E}"/>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D427FC8F-6618-B96B-9D38-BC04E50117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08A648E4-72E5-F00D-E43F-B2FC26D10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EF96C7E1-85EC-D2BF-189A-529B0D41F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FCAAB404-8349-D950-8099-70D79C287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B9C829C6-18BE-1BFC-E03D-8E4875728F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60CDACD4-A700-17C5-F60E-89616AA74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2BFEAC4D-1671-D4E9-26BC-BA09683A6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6B221701-3632-FE01-B6D7-48F494F2B469}"/>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rPr>
              <a:t>infrastructure</a:t>
            </a:r>
          </a:p>
        </p:txBody>
      </p:sp>
      <p:sp>
        <p:nvSpPr>
          <p:cNvPr id="40" name="Oval 39">
            <a:extLst>
              <a:ext uri="{FF2B5EF4-FFF2-40B4-BE49-F238E27FC236}">
                <a16:creationId xmlns:a16="http://schemas.microsoft.com/office/drawing/2014/main" id="{1AA165AE-E206-DAE5-B094-28076237A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854165E0-EC0B-19E3-F483-30F229F5A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94BB15B2-26A8-CA2B-22C4-356C58755377}"/>
              </a:ext>
            </a:extLst>
          </p:cNvPr>
          <p:cNvSpPr txBox="1"/>
          <p:nvPr/>
        </p:nvSpPr>
        <p:spPr>
          <a:xfrm>
            <a:off x="918882" y="2985557"/>
            <a:ext cx="10222992" cy="2743199"/>
          </a:xfrm>
          <a:prstGeom prst="rect">
            <a:avLst/>
          </a:prstGeom>
        </p:spPr>
        <p:txBody>
          <a:bodyPr vert="horz" lIns="91440" tIns="45720" rIns="91440" bIns="45720" rtlCol="0">
            <a:normAutofit/>
          </a:bodyPr>
          <a:lstStyle/>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t>Weaving looms are equipped with modern </a:t>
            </a:r>
            <a:r>
              <a:rPr lang="en-US" b="1" dirty="0"/>
              <a:t>rapier looms</a:t>
            </a:r>
            <a:r>
              <a:rPr lang="en-US" dirty="0"/>
              <a:t> capable of producing intricate fabric designs, with a weaving width of up to </a:t>
            </a:r>
            <a:r>
              <a:rPr lang="en-US" b="1" dirty="0"/>
              <a:t>300 cm</a:t>
            </a:r>
            <a:r>
              <a:rPr lang="en-US" dirty="0"/>
              <a:t>.</a:t>
            </a:r>
          </a:p>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t>The unit is supported by </a:t>
            </a:r>
            <a:r>
              <a:rPr lang="en-US" b="1" dirty="0"/>
              <a:t>warping and winding machines </a:t>
            </a:r>
            <a:r>
              <a:rPr lang="en-US" dirty="0"/>
              <a:t>that efficiently convert dyed hanks into yarn beams and cones ready for weaving, ensuring consistency and efficiency.</a:t>
            </a:r>
          </a:p>
          <a:p>
            <a:pPr defTabSz="914400">
              <a:lnSpc>
                <a:spcPct val="150000"/>
              </a:lnSpc>
              <a:spcAft>
                <a:spcPts val="600"/>
              </a:spcAft>
              <a:buClr>
                <a:schemeClr val="accent1">
                  <a:lumMod val="75000"/>
                </a:schemeClr>
              </a:buClr>
              <a:buSzPct val="85000"/>
            </a:pPr>
            <a:endParaRPr lang="en-US" dirty="0">
              <a:latin typeface="FrankRuehl" panose="020E0503060101010101" pitchFamily="34" charset="-79"/>
              <a:cs typeface="FrankRuehl" panose="020E0503060101010101" pitchFamily="34" charset="-79"/>
            </a:endParaRPr>
          </a:p>
        </p:txBody>
      </p:sp>
      <p:sp>
        <p:nvSpPr>
          <p:cNvPr id="7" name="TextBox 6">
            <a:extLst>
              <a:ext uri="{FF2B5EF4-FFF2-40B4-BE49-F238E27FC236}">
                <a16:creationId xmlns:a16="http://schemas.microsoft.com/office/drawing/2014/main" id="{125A88E2-C3FB-8F8F-170D-DC6C8D42744B}"/>
              </a:ext>
            </a:extLst>
          </p:cNvPr>
          <p:cNvSpPr txBox="1"/>
          <p:nvPr/>
        </p:nvSpPr>
        <p:spPr>
          <a:xfrm>
            <a:off x="918882" y="2560990"/>
            <a:ext cx="5934636" cy="400110"/>
          </a:xfrm>
          <a:prstGeom prst="rect">
            <a:avLst/>
          </a:prstGeom>
          <a:noFill/>
        </p:spPr>
        <p:txBody>
          <a:bodyPr wrap="square" rtlCol="0">
            <a:spAutoFit/>
          </a:bodyPr>
          <a:lstStyle/>
          <a:p>
            <a:r>
              <a:rPr lang="en-US" sz="2000" b="1" dirty="0"/>
              <a:t>Weaving:</a:t>
            </a:r>
            <a:endParaRPr lang="en-IN" sz="2000" b="1" dirty="0"/>
          </a:p>
        </p:txBody>
      </p:sp>
    </p:spTree>
    <p:extLst>
      <p:ext uri="{BB962C8B-B14F-4D97-AF65-F5344CB8AC3E}">
        <p14:creationId xmlns:p14="http://schemas.microsoft.com/office/powerpoint/2010/main" val="2924397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D1F1C8-B81C-3078-BD22-FD11365DE33F}"/>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802F27B8-6CEA-A4A7-9772-FE03E7DC07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444AD143-CBD3-5E73-BBD5-658CD536C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AFEF9AA8-3C09-2EFD-7E7C-59333C3CA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092ED130-ED6D-9DA6-C381-9DA1609F79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924DED0-BBD1-93B1-6C56-8D7FF15B2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1F38B6EE-7BBB-A024-F4CA-3AB8588E30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85C1D290-A09E-27C6-7238-86D2F89AF6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1C0E8239-84FB-C166-FA47-E137A4C43627}"/>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rPr>
              <a:t>infrastructure</a:t>
            </a:r>
          </a:p>
        </p:txBody>
      </p:sp>
      <p:sp>
        <p:nvSpPr>
          <p:cNvPr id="40" name="Oval 39">
            <a:extLst>
              <a:ext uri="{FF2B5EF4-FFF2-40B4-BE49-F238E27FC236}">
                <a16:creationId xmlns:a16="http://schemas.microsoft.com/office/drawing/2014/main" id="{63A36959-A79A-A7A2-9ACC-7A4DEAD57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3417770C-1A72-5935-DC1F-620E668C7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CC66512B-F29D-F0FA-07AE-DA50A85A5CF0}"/>
              </a:ext>
            </a:extLst>
          </p:cNvPr>
          <p:cNvSpPr txBox="1"/>
          <p:nvPr/>
        </p:nvSpPr>
        <p:spPr>
          <a:xfrm>
            <a:off x="984504" y="2658598"/>
            <a:ext cx="10222992" cy="2743199"/>
          </a:xfrm>
          <a:prstGeom prst="rect">
            <a:avLst/>
          </a:prstGeom>
        </p:spPr>
        <p:txBody>
          <a:bodyPr vert="horz" lIns="91440" tIns="45720" rIns="91440" bIns="45720" rtlCol="0">
            <a:normAutofit/>
          </a:bodyPr>
          <a:lstStyle/>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t>The unit is equipped with high-performance sewing machines from </a:t>
            </a:r>
            <a:r>
              <a:rPr lang="en-US" b="1" dirty="0"/>
              <a:t>Juki</a:t>
            </a:r>
            <a:r>
              <a:rPr lang="en-US" dirty="0"/>
              <a:t> and </a:t>
            </a:r>
            <a:r>
              <a:rPr lang="en-US" b="1" dirty="0"/>
              <a:t>Jack</a:t>
            </a:r>
            <a:r>
              <a:rPr lang="en-US" dirty="0"/>
              <a:t>, operated by skilled tailors to ensure precision and efficiency. </a:t>
            </a:r>
          </a:p>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t>The unit is also equipped with </a:t>
            </a:r>
            <a:r>
              <a:rPr lang="en-US" b="1" dirty="0"/>
              <a:t>single-head embroidery machine</a:t>
            </a:r>
            <a:r>
              <a:rPr lang="en-US" dirty="0"/>
              <a:t> for simple decorative designs.</a:t>
            </a:r>
          </a:p>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endParaRPr lang="en-US" dirty="0">
              <a:latin typeface="FrankRuehl" panose="020E0503060101010101" pitchFamily="34" charset="-79"/>
              <a:cs typeface="FrankRuehl" panose="020E0503060101010101" pitchFamily="34" charset="-79"/>
            </a:endParaRPr>
          </a:p>
        </p:txBody>
      </p:sp>
      <p:sp>
        <p:nvSpPr>
          <p:cNvPr id="7" name="TextBox 6">
            <a:extLst>
              <a:ext uri="{FF2B5EF4-FFF2-40B4-BE49-F238E27FC236}">
                <a16:creationId xmlns:a16="http://schemas.microsoft.com/office/drawing/2014/main" id="{51A88E1A-7FC4-28EC-C392-C2738CB19507}"/>
              </a:ext>
            </a:extLst>
          </p:cNvPr>
          <p:cNvSpPr txBox="1"/>
          <p:nvPr/>
        </p:nvSpPr>
        <p:spPr>
          <a:xfrm>
            <a:off x="851646" y="2258488"/>
            <a:ext cx="5934636" cy="400110"/>
          </a:xfrm>
          <a:prstGeom prst="rect">
            <a:avLst/>
          </a:prstGeom>
          <a:noFill/>
        </p:spPr>
        <p:txBody>
          <a:bodyPr wrap="square" rtlCol="0">
            <a:spAutoFit/>
          </a:bodyPr>
          <a:lstStyle/>
          <a:p>
            <a:r>
              <a:rPr lang="en-US" sz="2000" b="1" dirty="0"/>
              <a:t>Stitching:</a:t>
            </a:r>
            <a:endParaRPr lang="en-IN" sz="2000" b="1" dirty="0"/>
          </a:p>
        </p:txBody>
      </p:sp>
      <p:sp>
        <p:nvSpPr>
          <p:cNvPr id="2" name="TextBox 1">
            <a:extLst>
              <a:ext uri="{FF2B5EF4-FFF2-40B4-BE49-F238E27FC236}">
                <a16:creationId xmlns:a16="http://schemas.microsoft.com/office/drawing/2014/main" id="{C7C7A889-4FFD-89F8-82FB-F7F8DFDE253D}"/>
              </a:ext>
            </a:extLst>
          </p:cNvPr>
          <p:cNvSpPr txBox="1"/>
          <p:nvPr/>
        </p:nvSpPr>
        <p:spPr>
          <a:xfrm>
            <a:off x="851646" y="4516976"/>
            <a:ext cx="5934636" cy="400110"/>
          </a:xfrm>
          <a:prstGeom prst="rect">
            <a:avLst/>
          </a:prstGeom>
          <a:noFill/>
        </p:spPr>
        <p:txBody>
          <a:bodyPr wrap="square" rtlCol="0">
            <a:spAutoFit/>
          </a:bodyPr>
          <a:lstStyle/>
          <a:p>
            <a:r>
              <a:rPr lang="en-US" sz="2000" b="1" dirty="0"/>
              <a:t>Checking and Packing:</a:t>
            </a:r>
            <a:endParaRPr lang="en-IN" sz="2000" b="1" dirty="0"/>
          </a:p>
        </p:txBody>
      </p:sp>
      <p:sp>
        <p:nvSpPr>
          <p:cNvPr id="3" name="TextBox 2">
            <a:extLst>
              <a:ext uri="{FF2B5EF4-FFF2-40B4-BE49-F238E27FC236}">
                <a16:creationId xmlns:a16="http://schemas.microsoft.com/office/drawing/2014/main" id="{FE330736-9AF3-437B-5820-F5BC371CFA3F}"/>
              </a:ext>
            </a:extLst>
          </p:cNvPr>
          <p:cNvSpPr txBox="1"/>
          <p:nvPr/>
        </p:nvSpPr>
        <p:spPr>
          <a:xfrm>
            <a:off x="1136904" y="2810998"/>
            <a:ext cx="10222992" cy="2743199"/>
          </a:xfrm>
          <a:prstGeom prst="rect">
            <a:avLst/>
          </a:prstGeom>
        </p:spPr>
        <p:txBody>
          <a:bodyPr vert="horz" lIns="91440" tIns="45720" rIns="91440" bIns="45720" rtlCol="0">
            <a:normAutofit/>
          </a:bodyPr>
          <a:lstStyle/>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endParaRPr lang="en-US" dirty="0">
              <a:latin typeface="FrankRuehl" panose="020E0503060101010101" pitchFamily="34" charset="-79"/>
              <a:cs typeface="FrankRuehl" panose="020E0503060101010101" pitchFamily="34" charset="-79"/>
            </a:endParaRPr>
          </a:p>
        </p:txBody>
      </p:sp>
      <p:sp>
        <p:nvSpPr>
          <p:cNvPr id="5" name="TextBox 4">
            <a:extLst>
              <a:ext uri="{FF2B5EF4-FFF2-40B4-BE49-F238E27FC236}">
                <a16:creationId xmlns:a16="http://schemas.microsoft.com/office/drawing/2014/main" id="{8A79C869-8356-FE5E-193E-A3DC9A2E62DA}"/>
              </a:ext>
            </a:extLst>
          </p:cNvPr>
          <p:cNvSpPr txBox="1"/>
          <p:nvPr/>
        </p:nvSpPr>
        <p:spPr>
          <a:xfrm>
            <a:off x="1013697" y="4884448"/>
            <a:ext cx="10222992" cy="2743199"/>
          </a:xfrm>
          <a:prstGeom prst="rect">
            <a:avLst/>
          </a:prstGeom>
        </p:spPr>
        <p:txBody>
          <a:bodyPr vert="horz" lIns="91440" tIns="45720" rIns="91440" bIns="45720" rtlCol="0">
            <a:normAutofit/>
          </a:bodyPr>
          <a:lstStyle/>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t>Every product is carefully inspected for weaving defects, color consistency, measurements, and overall finish to ensure it meets export-quality standards.</a:t>
            </a:r>
          </a:p>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r>
              <a:rPr lang="en-US" dirty="0"/>
              <a:t>Products are neatly packed using export-grade materials, with vacuum packing available for cushions and seat pads to ensure safe transit.</a:t>
            </a:r>
            <a:endParaRPr lang="en-US" dirty="0">
              <a:latin typeface="FrankRuehl" panose="020E0503060101010101" pitchFamily="34" charset="-79"/>
              <a:cs typeface="FrankRuehl" panose="020E0503060101010101" pitchFamily="34" charset="-79"/>
            </a:endParaRPr>
          </a:p>
        </p:txBody>
      </p:sp>
    </p:spTree>
    <p:extLst>
      <p:ext uri="{BB962C8B-B14F-4D97-AF65-F5344CB8AC3E}">
        <p14:creationId xmlns:p14="http://schemas.microsoft.com/office/powerpoint/2010/main" val="2257863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1434AF-C7EE-0B51-A96A-3CB1B90699C3}"/>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4F7B2144-6D35-0C51-1811-7CFF527A9B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5C0AB9D7-4BCC-5AB0-4EB0-42C80AFFA6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399A5F78-7256-0A58-46DE-14B4AD6F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1ED5BD9C-458D-37C4-C57B-C389AEDA2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30ACA82-2852-8388-9B31-0242B1654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DDB2404A-90F8-9F5A-6463-DE088B418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D2ACD257-29AB-72B0-BBD6-289482141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395D3326-6B17-C402-AB4C-20B928D16DA5}"/>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rPr>
              <a:t>Accreditations</a:t>
            </a:r>
          </a:p>
        </p:txBody>
      </p:sp>
      <p:sp>
        <p:nvSpPr>
          <p:cNvPr id="40" name="Oval 39">
            <a:extLst>
              <a:ext uri="{FF2B5EF4-FFF2-40B4-BE49-F238E27FC236}">
                <a16:creationId xmlns:a16="http://schemas.microsoft.com/office/drawing/2014/main" id="{75DBAC0D-074B-F05E-7425-2717B22F0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38706C10-13E7-AD0F-5B60-5DD6E8D11A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45372891-55C6-B96A-DA76-6333F0FD8BC3}"/>
              </a:ext>
            </a:extLst>
          </p:cNvPr>
          <p:cNvSpPr txBox="1"/>
          <p:nvPr/>
        </p:nvSpPr>
        <p:spPr>
          <a:xfrm>
            <a:off x="1136904" y="2810998"/>
            <a:ext cx="10222992" cy="2743199"/>
          </a:xfrm>
          <a:prstGeom prst="rect">
            <a:avLst/>
          </a:prstGeom>
        </p:spPr>
        <p:txBody>
          <a:bodyPr vert="horz" lIns="91440" tIns="45720" rIns="91440" bIns="45720" rtlCol="0">
            <a:normAutofit/>
          </a:bodyPr>
          <a:lstStyle/>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endParaRPr lang="en-US" dirty="0">
              <a:latin typeface="FrankRuehl" panose="020E0503060101010101" pitchFamily="34" charset="-79"/>
              <a:cs typeface="FrankRuehl" panose="020E0503060101010101" pitchFamily="34" charset="-79"/>
            </a:endParaRPr>
          </a:p>
        </p:txBody>
      </p:sp>
      <p:sp>
        <p:nvSpPr>
          <p:cNvPr id="9" name="TextBox 8">
            <a:extLst>
              <a:ext uri="{FF2B5EF4-FFF2-40B4-BE49-F238E27FC236}">
                <a16:creationId xmlns:a16="http://schemas.microsoft.com/office/drawing/2014/main" id="{43346063-EF28-8225-CD3B-953E7DBDE81D}"/>
              </a:ext>
            </a:extLst>
          </p:cNvPr>
          <p:cNvSpPr txBox="1"/>
          <p:nvPr/>
        </p:nvSpPr>
        <p:spPr>
          <a:xfrm>
            <a:off x="947210" y="2413746"/>
            <a:ext cx="10602379" cy="1704377"/>
          </a:xfrm>
          <a:prstGeom prst="rect">
            <a:avLst/>
          </a:prstGeom>
          <a:noFill/>
        </p:spPr>
        <p:txBody>
          <a:bodyPr wrap="square">
            <a:spAutoFit/>
          </a:bodyPr>
          <a:lstStyle/>
          <a:p>
            <a:pPr>
              <a:lnSpc>
                <a:spcPct val="150000"/>
              </a:lnSpc>
              <a:buNone/>
            </a:pPr>
            <a:r>
              <a:rPr lang="en-US" b="1" dirty="0"/>
              <a:t>Introduction</a:t>
            </a:r>
          </a:p>
          <a:p>
            <a:pPr>
              <a:lnSpc>
                <a:spcPct val="150000"/>
              </a:lnSpc>
              <a:buNone/>
            </a:pPr>
            <a:r>
              <a:rPr lang="en-US" dirty="0"/>
              <a:t>We believe that responsible production is as important as thoughtful design. Our certifications reflect our commitment to ethical practices, sustainable sourcing, and quality standards at every stage of our process.</a:t>
            </a:r>
          </a:p>
        </p:txBody>
      </p:sp>
      <p:sp>
        <p:nvSpPr>
          <p:cNvPr id="5" name="TextBox 4">
            <a:extLst>
              <a:ext uri="{FF2B5EF4-FFF2-40B4-BE49-F238E27FC236}">
                <a16:creationId xmlns:a16="http://schemas.microsoft.com/office/drawing/2014/main" id="{AF10CD95-95FA-3F36-9A99-A2D33D50CBFE}"/>
              </a:ext>
            </a:extLst>
          </p:cNvPr>
          <p:cNvSpPr txBox="1"/>
          <p:nvPr/>
        </p:nvSpPr>
        <p:spPr>
          <a:xfrm>
            <a:off x="4679576" y="6319135"/>
            <a:ext cx="8574741" cy="338554"/>
          </a:xfrm>
          <a:prstGeom prst="rect">
            <a:avLst/>
          </a:prstGeom>
          <a:noFill/>
        </p:spPr>
        <p:txBody>
          <a:bodyPr wrap="square">
            <a:spAutoFit/>
          </a:bodyPr>
          <a:lstStyle/>
          <a:p>
            <a:r>
              <a:rPr lang="en-IN" sz="1600" b="1" i="1" dirty="0"/>
              <a:t>Reference - </a:t>
            </a:r>
            <a:r>
              <a:rPr lang="en-IN" sz="1600" b="1" i="1" dirty="0">
                <a:hlinkClick r:id="rId7"/>
              </a:rPr>
              <a:t>https://www.alokind.com/strength-capabilities.html</a:t>
            </a:r>
            <a:endParaRPr lang="en-IN" sz="1600" b="1" i="1" dirty="0"/>
          </a:p>
        </p:txBody>
      </p:sp>
    </p:spTree>
    <p:extLst>
      <p:ext uri="{BB962C8B-B14F-4D97-AF65-F5344CB8AC3E}">
        <p14:creationId xmlns:p14="http://schemas.microsoft.com/office/powerpoint/2010/main" val="1534714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2B543-766F-FB38-F6EC-188FDDA88976}"/>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309E2FD5-E769-F36B-4ECD-7EF319021B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2C8F7392-4397-C46E-53FB-937B87F2F1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88CB79FA-4792-154E-5B9D-CD69BF1E5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F8E3C66D-E42B-0E9F-3F9C-7EA054B82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F00F38-4CD6-81E5-D324-E2EC7D3E6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A3047267-D4CA-6545-9DF4-FF1D2A009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30E359FC-EBA7-A95D-CCCC-A5CF97CD8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1887F82A-D7FE-03CD-74FC-848A76D4DE81}"/>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rPr>
              <a:t>Accreditations</a:t>
            </a:r>
          </a:p>
        </p:txBody>
      </p:sp>
      <p:sp>
        <p:nvSpPr>
          <p:cNvPr id="40" name="Oval 39">
            <a:extLst>
              <a:ext uri="{FF2B5EF4-FFF2-40B4-BE49-F238E27FC236}">
                <a16:creationId xmlns:a16="http://schemas.microsoft.com/office/drawing/2014/main" id="{57B942B4-25A8-52D1-327D-EA6077099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25C8E8A2-05BE-3246-B4EC-247E6A0B7D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89557422-1185-096B-BCC2-219E7D1DAF45}"/>
              </a:ext>
            </a:extLst>
          </p:cNvPr>
          <p:cNvSpPr txBox="1"/>
          <p:nvPr/>
        </p:nvSpPr>
        <p:spPr>
          <a:xfrm>
            <a:off x="1136904" y="2810998"/>
            <a:ext cx="10222992" cy="2743199"/>
          </a:xfrm>
          <a:prstGeom prst="rect">
            <a:avLst/>
          </a:prstGeom>
        </p:spPr>
        <p:txBody>
          <a:bodyPr vert="horz" lIns="91440" tIns="45720" rIns="91440" bIns="45720" rtlCol="0">
            <a:normAutofit/>
          </a:bodyPr>
          <a:lstStyle/>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endParaRPr lang="en-US" dirty="0">
              <a:latin typeface="FrankRuehl" panose="020E0503060101010101" pitchFamily="34" charset="-79"/>
              <a:cs typeface="FrankRuehl" panose="020E0503060101010101" pitchFamily="34" charset="-79"/>
            </a:endParaRPr>
          </a:p>
        </p:txBody>
      </p:sp>
      <p:sp>
        <p:nvSpPr>
          <p:cNvPr id="5" name="TextBox 4">
            <a:extLst>
              <a:ext uri="{FF2B5EF4-FFF2-40B4-BE49-F238E27FC236}">
                <a16:creationId xmlns:a16="http://schemas.microsoft.com/office/drawing/2014/main" id="{7221521C-6122-F13C-5DD1-EAB78498FAFC}"/>
              </a:ext>
            </a:extLst>
          </p:cNvPr>
          <p:cNvSpPr txBox="1"/>
          <p:nvPr/>
        </p:nvSpPr>
        <p:spPr>
          <a:xfrm>
            <a:off x="362269" y="2196514"/>
            <a:ext cx="11544300" cy="4197367"/>
          </a:xfrm>
          <a:prstGeom prst="rect">
            <a:avLst/>
          </a:prstGeom>
          <a:noFill/>
        </p:spPr>
        <p:txBody>
          <a:bodyPr wrap="square">
            <a:spAutoFit/>
          </a:bodyPr>
          <a:lstStyle/>
          <a:p>
            <a:pPr>
              <a:lnSpc>
                <a:spcPct val="150000"/>
              </a:lnSpc>
              <a:buFont typeface="Arial" panose="020B0604020202020204" pitchFamily="34" charset="0"/>
              <a:buChar char="•"/>
            </a:pPr>
            <a:r>
              <a:rPr lang="en-US" b="1" dirty="0"/>
              <a:t>SA8000 - </a:t>
            </a:r>
            <a:r>
              <a:rPr lang="en-US" dirty="0"/>
              <a:t>Ensures fair working conditions, ethical treatment of workers, and safe workplaces.</a:t>
            </a:r>
          </a:p>
          <a:p>
            <a:pPr>
              <a:lnSpc>
                <a:spcPct val="150000"/>
              </a:lnSpc>
              <a:buFont typeface="Arial" panose="020B0604020202020204" pitchFamily="34" charset="0"/>
              <a:buChar char="•"/>
            </a:pPr>
            <a:r>
              <a:rPr lang="en-US" b="1" dirty="0"/>
              <a:t>Better Cotton Initiative - </a:t>
            </a:r>
            <a:r>
              <a:rPr lang="en-US" dirty="0"/>
              <a:t>Promotes sustainable cotton farming practices that reduce environmental impact and support farmers.</a:t>
            </a:r>
          </a:p>
          <a:p>
            <a:pPr>
              <a:lnSpc>
                <a:spcPct val="150000"/>
              </a:lnSpc>
              <a:buFont typeface="Arial" panose="020B0604020202020204" pitchFamily="34" charset="0"/>
              <a:buChar char="•"/>
            </a:pPr>
            <a:r>
              <a:rPr lang="en-US" b="1" dirty="0"/>
              <a:t>Global Organic Textile Standard - </a:t>
            </a:r>
            <a:r>
              <a:rPr lang="en-US" dirty="0"/>
              <a:t>Certifies organic textiles with strict environmental and social criteria across the supply chain.</a:t>
            </a:r>
          </a:p>
          <a:p>
            <a:pPr>
              <a:lnSpc>
                <a:spcPct val="150000"/>
              </a:lnSpc>
              <a:buFont typeface="Arial" panose="020B0604020202020204" pitchFamily="34" charset="0"/>
              <a:buChar char="•"/>
            </a:pPr>
            <a:r>
              <a:rPr lang="en-US" b="1" dirty="0"/>
              <a:t>Global Recycled Standard - </a:t>
            </a:r>
            <a:r>
              <a:rPr lang="en-US" dirty="0"/>
              <a:t>Verifies the use of recycled materials while ensuring responsible social and environmental practices.</a:t>
            </a:r>
          </a:p>
          <a:p>
            <a:pPr>
              <a:lnSpc>
                <a:spcPct val="150000"/>
              </a:lnSpc>
              <a:buFont typeface="Arial" panose="020B0604020202020204" pitchFamily="34" charset="0"/>
              <a:buChar char="•"/>
            </a:pPr>
            <a:r>
              <a:rPr lang="en-US" b="1" dirty="0"/>
              <a:t>Higg Index - </a:t>
            </a:r>
            <a:r>
              <a:rPr lang="en-US" dirty="0"/>
              <a:t>Measures and improves environmental and social performance within the textile industry.</a:t>
            </a:r>
          </a:p>
          <a:p>
            <a:pPr>
              <a:lnSpc>
                <a:spcPct val="150000"/>
              </a:lnSpc>
              <a:buFont typeface="Arial" panose="020B0604020202020204" pitchFamily="34" charset="0"/>
              <a:buChar char="•"/>
            </a:pPr>
            <a:r>
              <a:rPr lang="en-US" b="1" dirty="0"/>
              <a:t>OEKO-TEX Standard 100 - </a:t>
            </a:r>
            <a:r>
              <a:rPr lang="en-US" dirty="0"/>
              <a:t>Ensures products are tested and free from harmful substances, making them safe for human use.</a:t>
            </a:r>
          </a:p>
        </p:txBody>
      </p:sp>
    </p:spTree>
    <p:extLst>
      <p:ext uri="{BB962C8B-B14F-4D97-AF65-F5344CB8AC3E}">
        <p14:creationId xmlns:p14="http://schemas.microsoft.com/office/powerpoint/2010/main" val="261927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CFB47F-5786-FA04-385E-DA0C89AC6F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D08CEEF-EDCE-A60E-9D91-AACE6C548FA8}"/>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spc="0" dirty="0">
                <a:ln w="12700" cmpd="sng">
                  <a:solidFill>
                    <a:schemeClr val="accent4"/>
                  </a:solidFill>
                  <a:prstDash val="solid"/>
                </a:ln>
                <a:blipFill>
                  <a:blip r:embed="rId2">
                    <a:extLst>
                      <a:ext uri="{28A0092B-C50C-407E-A947-70E740481C1C}">
                        <a14:useLocalDpi xmlns:a14="http://schemas.microsoft.com/office/drawing/2010/main" val="0"/>
                      </a:ext>
                    </a:extLst>
                  </a:blip>
                  <a:tile tx="6350" ty="-127000" sx="65000" sy="64000" flip="none" algn="tl"/>
                </a:blipFill>
                <a:effectLst/>
                <a:latin typeface="+mj-lt"/>
                <a:ea typeface="+mj-ea"/>
                <a:cs typeface="+mj-cs"/>
              </a:rPr>
              <a:t>Product line introduction</a:t>
            </a:r>
          </a:p>
        </p:txBody>
      </p:sp>
      <p:sp>
        <p:nvSpPr>
          <p:cNvPr id="6" name="TextBox 5">
            <a:extLst>
              <a:ext uri="{FF2B5EF4-FFF2-40B4-BE49-F238E27FC236}">
                <a16:creationId xmlns:a16="http://schemas.microsoft.com/office/drawing/2014/main" id="{E85F7FF8-F6E9-EE8D-ECAC-CB4FF281B0CA}"/>
              </a:ext>
            </a:extLst>
          </p:cNvPr>
          <p:cNvSpPr txBox="1"/>
          <p:nvPr/>
        </p:nvSpPr>
        <p:spPr>
          <a:xfrm>
            <a:off x="891987" y="2187137"/>
            <a:ext cx="10614212" cy="2743199"/>
          </a:xfrm>
          <a:prstGeom prst="rect">
            <a:avLst/>
          </a:prstGeom>
        </p:spPr>
        <p:txBody>
          <a:bodyPr vert="horz" lIns="91440" tIns="45720" rIns="91440" bIns="45720" rtlCol="0">
            <a:normAutofit/>
          </a:bodyPr>
          <a:lstStyle/>
          <a:p>
            <a:pPr>
              <a:lnSpc>
                <a:spcPct val="150000"/>
              </a:lnSpc>
            </a:pPr>
            <a:r>
              <a:rPr lang="en-US" dirty="0"/>
              <a:t>Our major product range spans across living, table linen, kitchen linen, and bags, consciously designed to suit diverse global preferences. We bring in a variety of weaves, prints, and embroidery, offering products that range from subtle and minimal to bright and bold.</a:t>
            </a:r>
          </a:p>
          <a:p>
            <a:pPr>
              <a:lnSpc>
                <a:spcPct val="150000"/>
              </a:lnSpc>
            </a:pPr>
            <a:r>
              <a:rPr lang="en-US" dirty="0"/>
              <a:t> Our products are further enhanced with different washes and finishes, based on requirements, creating a unique look and feel.</a:t>
            </a:r>
            <a:endParaRPr lang="en-US" b="1" dirty="0"/>
          </a:p>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endParaRPr lang="en-US" dirty="0">
              <a:latin typeface="FrankRuehl" panose="020E0503060101010101" pitchFamily="34" charset="-79"/>
              <a:cs typeface="FrankRuehl" panose="020E0503060101010101" pitchFamily="34" charset="-79"/>
            </a:endParaRPr>
          </a:p>
        </p:txBody>
      </p:sp>
      <p:sp>
        <p:nvSpPr>
          <p:cNvPr id="3" name="TextBox 2">
            <a:extLst>
              <a:ext uri="{FF2B5EF4-FFF2-40B4-BE49-F238E27FC236}">
                <a16:creationId xmlns:a16="http://schemas.microsoft.com/office/drawing/2014/main" id="{7A1B18E9-03D1-AEE9-1011-E9BB825690C3}"/>
              </a:ext>
            </a:extLst>
          </p:cNvPr>
          <p:cNvSpPr txBox="1"/>
          <p:nvPr/>
        </p:nvSpPr>
        <p:spPr>
          <a:xfrm>
            <a:off x="1136904" y="2810998"/>
            <a:ext cx="10222992" cy="2743199"/>
          </a:xfrm>
          <a:prstGeom prst="rect">
            <a:avLst/>
          </a:prstGeom>
        </p:spPr>
        <p:txBody>
          <a:bodyPr vert="horz" lIns="91440" tIns="45720" rIns="91440" bIns="45720" rtlCol="0">
            <a:normAutofit/>
          </a:bodyPr>
          <a:lstStyle/>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endParaRPr lang="en-US" dirty="0">
              <a:latin typeface="FrankRuehl" panose="020E0503060101010101" pitchFamily="34" charset="-79"/>
              <a:cs typeface="FrankRuehl" panose="020E0503060101010101" pitchFamily="34" charset="-79"/>
            </a:endParaRPr>
          </a:p>
        </p:txBody>
      </p:sp>
      <p:pic>
        <p:nvPicPr>
          <p:cNvPr id="9" name="Picture 8">
            <a:extLst>
              <a:ext uri="{FF2B5EF4-FFF2-40B4-BE49-F238E27FC236}">
                <a16:creationId xmlns:a16="http://schemas.microsoft.com/office/drawing/2014/main" id="{80CE51EE-7D20-CAA0-9ADA-320EEBD0B305}"/>
              </a:ext>
            </a:extLst>
          </p:cNvPr>
          <p:cNvPicPr>
            <a:picLocks noChangeAspect="1"/>
          </p:cNvPicPr>
          <p:nvPr/>
        </p:nvPicPr>
        <p:blipFill>
          <a:blip r:embed="rId3"/>
          <a:stretch>
            <a:fillRect/>
          </a:stretch>
        </p:blipFill>
        <p:spPr>
          <a:xfrm>
            <a:off x="728283" y="4417068"/>
            <a:ext cx="10735433" cy="1827209"/>
          </a:xfrm>
          <a:prstGeom prst="rect">
            <a:avLst/>
          </a:prstGeom>
        </p:spPr>
      </p:pic>
    </p:spTree>
    <p:extLst>
      <p:ext uri="{BB962C8B-B14F-4D97-AF65-F5344CB8AC3E}">
        <p14:creationId xmlns:p14="http://schemas.microsoft.com/office/powerpoint/2010/main" val="2976049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97FF80-E823-FA0A-4C6A-3E7E1CF04FC9}"/>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9EB34F0B-747C-BA89-308F-2CCCFCDB6F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F5C6AD19-C6BC-41D1-82A6-B89695516B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30" name="Oval 29">
              <a:extLst>
                <a:ext uri="{FF2B5EF4-FFF2-40B4-BE49-F238E27FC236}">
                  <a16:creationId xmlns:a16="http://schemas.microsoft.com/office/drawing/2014/main" id="{DC8D145D-2AD8-6DC0-A3E5-FE6A59C59D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useBgFill="1">
        <p:nvSpPr>
          <p:cNvPr id="32" name="Rectangle 31">
            <a:extLst>
              <a:ext uri="{FF2B5EF4-FFF2-40B4-BE49-F238E27FC236}">
                <a16:creationId xmlns:a16="http://schemas.microsoft.com/office/drawing/2014/main" id="{B31EC8BA-2B27-6575-12B0-C0AA2F49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585F6AC-792C-F000-1E77-E3666CC96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6" name="Rectangle 35">
            <a:extLst>
              <a:ext uri="{FF2B5EF4-FFF2-40B4-BE49-F238E27FC236}">
                <a16:creationId xmlns:a16="http://schemas.microsoft.com/office/drawing/2014/main" id="{A3EB9B00-204A-D4EB-7CE6-5CE06307B5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8" name="Rectangle 37">
            <a:extLst>
              <a:ext uri="{FF2B5EF4-FFF2-40B4-BE49-F238E27FC236}">
                <a16:creationId xmlns:a16="http://schemas.microsoft.com/office/drawing/2014/main" id="{3FD90CA0-B075-3130-6255-CF85D426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3">
            <a:extLst>
              <a:ext uri="{FF2B5EF4-FFF2-40B4-BE49-F238E27FC236}">
                <a16:creationId xmlns:a16="http://schemas.microsoft.com/office/drawing/2014/main" id="{D690B46F-3176-0D38-F8A4-9D0857567F3F}"/>
              </a:ext>
            </a:extLst>
          </p:cNvPr>
          <p:cNvSpPr/>
          <p:nvPr/>
        </p:nvSpPr>
        <p:spPr>
          <a:xfrm>
            <a:off x="1069848" y="484632"/>
            <a:ext cx="10058400" cy="160934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b="1" cap="all"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latin typeface="+mj-lt"/>
                <a:ea typeface="+mj-ea"/>
                <a:cs typeface="+mj-cs"/>
              </a:rPr>
              <a:t>Contact us </a:t>
            </a:r>
            <a:endParaRPr lang="en-US" sz="5400" b="1" cap="all" spc="0" dirty="0">
              <a:ln w="12700" cmpd="sng">
                <a:solidFill>
                  <a:schemeClr val="accent4"/>
                </a:solidFill>
                <a:prstDash val="solid"/>
              </a:ln>
              <a:blipFill>
                <a:blip r:embed="rId6">
                  <a:extLst>
                    <a:ext uri="{28A0092B-C50C-407E-A947-70E740481C1C}">
                      <a14:useLocalDpi xmlns:a14="http://schemas.microsoft.com/office/drawing/2010/main" val="0"/>
                    </a:ext>
                  </a:extLst>
                </a:blip>
                <a:tile tx="6350" ty="-127000" sx="65000" sy="64000" flip="none" algn="tl"/>
              </a:blipFill>
              <a:effectLst/>
              <a:latin typeface="+mj-lt"/>
              <a:ea typeface="+mj-ea"/>
              <a:cs typeface="+mj-cs"/>
            </a:endParaRPr>
          </a:p>
        </p:txBody>
      </p:sp>
      <p:sp>
        <p:nvSpPr>
          <p:cNvPr id="40" name="Oval 39">
            <a:extLst>
              <a:ext uri="{FF2B5EF4-FFF2-40B4-BE49-F238E27FC236}">
                <a16:creationId xmlns:a16="http://schemas.microsoft.com/office/drawing/2014/main" id="{95EFA38E-C7A1-D060-2F34-839D9C6B96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2" name="Oval 41">
            <a:extLst>
              <a:ext uri="{FF2B5EF4-FFF2-40B4-BE49-F238E27FC236}">
                <a16:creationId xmlns:a16="http://schemas.microsoft.com/office/drawing/2014/main" id="{C1D48FAB-F1E9-FD58-03EF-895D8C06F1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C4C5918D-B8E5-4F65-6436-DDE401E6A1BA}"/>
              </a:ext>
            </a:extLst>
          </p:cNvPr>
          <p:cNvSpPr txBox="1"/>
          <p:nvPr/>
        </p:nvSpPr>
        <p:spPr>
          <a:xfrm>
            <a:off x="1136904" y="2810998"/>
            <a:ext cx="10222992" cy="2743199"/>
          </a:xfrm>
          <a:prstGeom prst="rect">
            <a:avLst/>
          </a:prstGeom>
        </p:spPr>
        <p:txBody>
          <a:bodyPr vert="horz" lIns="91440" tIns="45720" rIns="91440" bIns="45720" rtlCol="0">
            <a:normAutofit/>
          </a:bodyPr>
          <a:lstStyle/>
          <a:p>
            <a:pPr marL="285750" indent="-285750" defTabSz="914400">
              <a:lnSpc>
                <a:spcPct val="150000"/>
              </a:lnSpc>
              <a:spcAft>
                <a:spcPts val="600"/>
              </a:spcAft>
              <a:buClr>
                <a:schemeClr val="accent1">
                  <a:lumMod val="75000"/>
                </a:schemeClr>
              </a:buClr>
              <a:buSzPct val="85000"/>
              <a:buFont typeface="Arial" panose="020B0604020202020204" pitchFamily="34" charset="0"/>
              <a:buChar char="•"/>
            </a:pPr>
            <a:endParaRPr lang="en-US" dirty="0">
              <a:latin typeface="FrankRuehl" panose="020E0503060101010101" pitchFamily="34" charset="-79"/>
              <a:cs typeface="FrankRuehl" panose="020E0503060101010101" pitchFamily="34" charset="-79"/>
            </a:endParaRPr>
          </a:p>
        </p:txBody>
      </p:sp>
      <p:pic>
        <p:nvPicPr>
          <p:cNvPr id="6" name="Picture 5">
            <a:extLst>
              <a:ext uri="{FF2B5EF4-FFF2-40B4-BE49-F238E27FC236}">
                <a16:creationId xmlns:a16="http://schemas.microsoft.com/office/drawing/2014/main" id="{AD5739F0-02A2-6727-E8D8-4D345E6E88B2}"/>
              </a:ext>
            </a:extLst>
          </p:cNvPr>
          <p:cNvPicPr>
            <a:picLocks noChangeAspect="1"/>
          </p:cNvPicPr>
          <p:nvPr/>
        </p:nvPicPr>
        <p:blipFill>
          <a:blip r:embed="rId7"/>
          <a:stretch>
            <a:fillRect/>
          </a:stretch>
        </p:blipFill>
        <p:spPr>
          <a:xfrm>
            <a:off x="2034200" y="2269290"/>
            <a:ext cx="9181458" cy="4609223"/>
          </a:xfrm>
          <a:prstGeom prst="rect">
            <a:avLst/>
          </a:prstGeom>
        </p:spPr>
      </p:pic>
      <p:sp>
        <p:nvSpPr>
          <p:cNvPr id="7" name="TextBox 6">
            <a:extLst>
              <a:ext uri="{FF2B5EF4-FFF2-40B4-BE49-F238E27FC236}">
                <a16:creationId xmlns:a16="http://schemas.microsoft.com/office/drawing/2014/main" id="{9D420324-B1BA-BF01-8D25-2529907EBF84}"/>
              </a:ext>
            </a:extLst>
          </p:cNvPr>
          <p:cNvSpPr txBox="1"/>
          <p:nvPr/>
        </p:nvSpPr>
        <p:spPr>
          <a:xfrm>
            <a:off x="7115928" y="3225349"/>
            <a:ext cx="9485993" cy="376642"/>
          </a:xfrm>
          <a:prstGeom prst="rect">
            <a:avLst/>
          </a:prstGeom>
          <a:noFill/>
        </p:spPr>
        <p:txBody>
          <a:bodyPr wrap="square">
            <a:spAutoFit/>
          </a:bodyPr>
          <a:lstStyle/>
          <a:p>
            <a:pPr>
              <a:lnSpc>
                <a:spcPct val="150000"/>
              </a:lnSpc>
              <a:buNone/>
            </a:pPr>
            <a:r>
              <a:rPr lang="en-US" sz="1400" b="1" dirty="0"/>
              <a:t>Sakthi Sree Devi K - +91 9500583445</a:t>
            </a:r>
          </a:p>
        </p:txBody>
      </p:sp>
      <p:cxnSp>
        <p:nvCxnSpPr>
          <p:cNvPr id="9" name="Straight Connector 8">
            <a:extLst>
              <a:ext uri="{FF2B5EF4-FFF2-40B4-BE49-F238E27FC236}">
                <a16:creationId xmlns:a16="http://schemas.microsoft.com/office/drawing/2014/main" id="{11634301-05BD-ED5E-7511-0C030CCDBB24}"/>
              </a:ext>
            </a:extLst>
          </p:cNvPr>
          <p:cNvCxnSpPr>
            <a:cxnSpLocks/>
          </p:cNvCxnSpPr>
          <p:nvPr/>
        </p:nvCxnSpPr>
        <p:spPr>
          <a:xfrm>
            <a:off x="7319795" y="4627140"/>
            <a:ext cx="1943674" cy="0"/>
          </a:xfrm>
          <a:prstGeom prst="line">
            <a:avLst/>
          </a:prstGeom>
          <a:ln/>
        </p:spPr>
        <p:style>
          <a:lnRef idx="2">
            <a:schemeClr val="dk1"/>
          </a:lnRef>
          <a:fillRef idx="0">
            <a:schemeClr val="dk1"/>
          </a:fillRef>
          <a:effectRef idx="1">
            <a:schemeClr val="dk1"/>
          </a:effectRef>
          <a:fontRef idx="minor">
            <a:schemeClr val="tx1"/>
          </a:fontRef>
        </p:style>
      </p:cxnSp>
      <p:sp>
        <p:nvSpPr>
          <p:cNvPr id="15" name="Rectangle 14">
            <a:extLst>
              <a:ext uri="{FF2B5EF4-FFF2-40B4-BE49-F238E27FC236}">
                <a16:creationId xmlns:a16="http://schemas.microsoft.com/office/drawing/2014/main" id="{739337A3-5268-43E4-1356-4856CDE26FED}"/>
              </a:ext>
            </a:extLst>
          </p:cNvPr>
          <p:cNvSpPr/>
          <p:nvPr/>
        </p:nvSpPr>
        <p:spPr>
          <a:xfrm>
            <a:off x="7181945" y="4553387"/>
            <a:ext cx="2155043" cy="1748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highlight>
                <a:srgbClr val="C0C0C0"/>
              </a:highlight>
            </a:endParaRPr>
          </a:p>
        </p:txBody>
      </p:sp>
      <p:sp>
        <p:nvSpPr>
          <p:cNvPr id="16" name="TextBox 15">
            <a:extLst>
              <a:ext uri="{FF2B5EF4-FFF2-40B4-BE49-F238E27FC236}">
                <a16:creationId xmlns:a16="http://schemas.microsoft.com/office/drawing/2014/main" id="{98C18F87-F453-3775-1A8F-8286D8025C79}"/>
              </a:ext>
            </a:extLst>
          </p:cNvPr>
          <p:cNvSpPr txBox="1"/>
          <p:nvPr/>
        </p:nvSpPr>
        <p:spPr>
          <a:xfrm>
            <a:off x="7105071" y="4433317"/>
            <a:ext cx="9485993" cy="356316"/>
          </a:xfrm>
          <a:prstGeom prst="rect">
            <a:avLst/>
          </a:prstGeom>
          <a:noFill/>
        </p:spPr>
        <p:txBody>
          <a:bodyPr wrap="square">
            <a:spAutoFit/>
          </a:bodyPr>
          <a:lstStyle/>
          <a:p>
            <a:pPr>
              <a:lnSpc>
                <a:spcPct val="150000"/>
              </a:lnSpc>
              <a:buNone/>
            </a:pPr>
            <a:r>
              <a:rPr lang="en-US" sz="1300" b="1" dirty="0">
                <a:solidFill>
                  <a:schemeClr val="bg1"/>
                </a:solidFill>
              </a:rPr>
              <a:t>sakthi@aaseeexport.com</a:t>
            </a:r>
          </a:p>
        </p:txBody>
      </p:sp>
    </p:spTree>
    <p:extLst>
      <p:ext uri="{BB962C8B-B14F-4D97-AF65-F5344CB8AC3E}">
        <p14:creationId xmlns:p14="http://schemas.microsoft.com/office/powerpoint/2010/main" val="6743233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589</TotalTime>
  <Words>1019</Words>
  <Application>Microsoft Office PowerPoint</Application>
  <PresentationFormat>Widescreen</PresentationFormat>
  <Paragraphs>70</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vt:lpstr>
      <vt:lpstr>Arial</vt:lpstr>
      <vt:lpstr>Calibri</vt:lpstr>
      <vt:lpstr>FrankRuehl</vt:lpstr>
      <vt:lpstr>Rockwell</vt:lpstr>
      <vt:lpstr>Rockwell Condensed</vt:lpstr>
      <vt:lpstr>Rockwell Extra Bold</vt:lpstr>
      <vt:lpstr>Wingdings</vt:lpstr>
      <vt:lpstr>Wood Type</vt:lpstr>
      <vt:lpstr>Aasee Website Content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Selvaraj M</dc:creator>
  <cp:lastModifiedBy>jeevika kadirvel</cp:lastModifiedBy>
  <cp:revision>19</cp:revision>
  <dcterms:created xsi:type="dcterms:W3CDTF">2026-03-12T05:17:20Z</dcterms:created>
  <dcterms:modified xsi:type="dcterms:W3CDTF">2026-05-22T08:13:21Z</dcterms:modified>
</cp:coreProperties>
</file>